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0E1117"/>
                </a:solidFill>
                <a:latin typeface="Segoe UI Black"/>
              </a:rPr>
              <a:t>Evolve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58A6FF"/>
                </a:solidFill>
                <a:latin typeface="Segoe UI"/>
              </a:rPr>
              <a:t>Evolutionary Algorithm Discovery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C9D1D9"/>
                </a:solidFill>
                <a:latin typeface="Segoe UI"/>
              </a:rPr>
              <a:t>AlphaEvolve-Inspired Code Optimization Framework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560320"/>
            <a:ext cx="10515600" cy="36576"/>
          </a:xfrm>
          <a:prstGeom prst="rect">
            <a:avLst/>
          </a:prstGeom>
          <a:solidFill>
            <a:srgbClr val="8993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7432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9939B"/>
                </a:solidFill>
                <a:latin typeface="Segoe UI"/>
              </a:rPr>
              <a:t>CS5381  |  Analysis of Algorithms  |  Group 2  |  April 24,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246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Segoe UI"/>
              </a:rPr>
              <a:t>Bhanu Sankar Ravi    ·    Maneesh Malepati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57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Segoe UI"/>
              </a:rPr>
              <a:t>Lakshman Pukhraj     ·    Johitha Konduru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2636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8A6FF"/>
                </a:solidFill>
                <a:latin typeface="Segoe UI"/>
              </a:rPr>
              <a:t>github.com/ManeeGit/CS5381-AOA  ·  Demo: youtu.be/b2GBt0VEED0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0" y="649224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9939B"/>
                </a:solidFill>
                <a:latin typeface="Segoe UI"/>
              </a:rPr>
              <a:t>1 / 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E1117"/>
                </a:solidFill>
                <a:latin typeface="Segoe UI Semibold"/>
              </a:rPr>
              <a:t>Group Members &amp; Configurations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2296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9939B"/>
                </a:solidFill>
                <a:latin typeface="Segoe UI"/>
              </a:rPr>
              <a:t>CS5381 AOA – Group 2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51560"/>
            <a:ext cx="365760" cy="512064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051560"/>
            <a:ext cx="2743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E1117"/>
                </a:solidFill>
                <a:latin typeface="Segoe UI Semibold"/>
              </a:rPr>
              <a:t>#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051560"/>
            <a:ext cx="2194560" cy="512064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051560"/>
            <a:ext cx="21031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E1117"/>
                </a:solidFill>
                <a:latin typeface="Segoe UI Semibold"/>
              </a:rPr>
              <a:t>Name</a:t>
            </a:r>
          </a:p>
        </p:txBody>
      </p:sp>
      <p:sp>
        <p:nvSpPr>
          <p:cNvPr id="9" name="Rectangle 8"/>
          <p:cNvSpPr/>
          <p:nvPr/>
        </p:nvSpPr>
        <p:spPr>
          <a:xfrm>
            <a:off x="2926080" y="1051560"/>
            <a:ext cx="1005840" cy="512064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71800" y="1051560"/>
            <a:ext cx="9144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E1117"/>
                </a:solidFill>
                <a:latin typeface="Segoe UI Semibold"/>
              </a:rPr>
              <a:t>Config ID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31920" y="1051560"/>
            <a:ext cx="2560320" cy="512064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77640" y="1051560"/>
            <a:ext cx="2468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E1117"/>
                </a:solidFill>
                <a:latin typeface="Segoe UI Semibold"/>
              </a:rPr>
              <a:t>Configuration Name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1051560"/>
            <a:ext cx="5212080" cy="512064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051560"/>
            <a:ext cx="51206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E1117"/>
                </a:solidFill>
                <a:latin typeface="Segoe UI Semibold"/>
              </a:rPr>
              <a:t>Focus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1563624"/>
            <a:ext cx="365760" cy="512064"/>
          </a:xfrm>
          <a:prstGeom prst="rect">
            <a:avLst/>
          </a:prstGeom>
          <a:solidFill>
            <a:srgbClr val="161B27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1563624"/>
            <a:ext cx="2743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C9D1D9"/>
                </a:solidFill>
                <a:latin typeface="Segoe UI"/>
              </a:rPr>
              <a:t>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1563624"/>
            <a:ext cx="2194560" cy="512064"/>
          </a:xfrm>
          <a:prstGeom prst="rect">
            <a:avLst/>
          </a:prstGeom>
          <a:solidFill>
            <a:srgbClr val="161B27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1563624"/>
            <a:ext cx="21031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C9D1D9"/>
                </a:solidFill>
                <a:latin typeface="Segoe UI"/>
              </a:rPr>
              <a:t>Bhanu Sankar Ravi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26080" y="1563624"/>
            <a:ext cx="1005840" cy="512064"/>
          </a:xfrm>
          <a:prstGeom prst="rect">
            <a:avLst/>
          </a:prstGeom>
          <a:solidFill>
            <a:srgbClr val="161B27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71800" y="1563624"/>
            <a:ext cx="9144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C9D1D9"/>
                </a:solidFill>
                <a:latin typeface="Segoe UI"/>
              </a:rPr>
              <a:t>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931920" y="1563624"/>
            <a:ext cx="2560320" cy="512064"/>
          </a:xfrm>
          <a:prstGeom prst="rect">
            <a:avLst/>
          </a:prstGeom>
          <a:solidFill>
            <a:srgbClr val="161B27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77640" y="1563624"/>
            <a:ext cx="2468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C9D1D9"/>
                </a:solidFill>
                <a:latin typeface="Segoe UI"/>
              </a:rPr>
              <a:t>Fast Exploration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1563624"/>
            <a:ext cx="5212080" cy="512064"/>
          </a:xfrm>
          <a:prstGeom prst="rect">
            <a:avLst/>
          </a:prstGeom>
          <a:solidFill>
            <a:srgbClr val="161B27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1563624"/>
            <a:ext cx="51206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C9D1D9"/>
                </a:solidFill>
                <a:latin typeface="Segoe UI"/>
              </a:rPr>
              <a:t>High mutation rate, aggressive search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075688"/>
            <a:ext cx="365760" cy="512064"/>
          </a:xfrm>
          <a:prstGeom prst="rect">
            <a:avLst/>
          </a:prstGeom>
          <a:solidFill>
            <a:srgbClr val="1C222F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2075688"/>
            <a:ext cx="2743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C9D1D9"/>
                </a:solidFill>
                <a:latin typeface="Segoe UI"/>
              </a:rPr>
              <a:t>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" y="2075688"/>
            <a:ext cx="2194560" cy="512064"/>
          </a:xfrm>
          <a:prstGeom prst="rect">
            <a:avLst/>
          </a:prstGeom>
          <a:solidFill>
            <a:srgbClr val="1C222F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2075688"/>
            <a:ext cx="21031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C9D1D9"/>
                </a:solidFill>
                <a:latin typeface="Segoe UI"/>
              </a:rPr>
              <a:t>Maneesh Malepati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926080" y="2075688"/>
            <a:ext cx="1005840" cy="512064"/>
          </a:xfrm>
          <a:prstGeom prst="rect">
            <a:avLst/>
          </a:prstGeom>
          <a:solidFill>
            <a:srgbClr val="1C222F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971800" y="2075688"/>
            <a:ext cx="9144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C9D1D9"/>
                </a:solidFill>
                <a:latin typeface="Segoe UI"/>
              </a:rPr>
              <a:t>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931920" y="2075688"/>
            <a:ext cx="2560320" cy="512064"/>
          </a:xfrm>
          <a:prstGeom prst="rect">
            <a:avLst/>
          </a:prstGeom>
          <a:solidFill>
            <a:srgbClr val="1C222F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77640" y="2075688"/>
            <a:ext cx="2468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C9D1D9"/>
                </a:solidFill>
                <a:latin typeface="Segoe UI"/>
              </a:rPr>
              <a:t>Balanced Standard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92240" y="2075688"/>
            <a:ext cx="5212080" cy="512064"/>
          </a:xfrm>
          <a:prstGeom prst="rect">
            <a:avLst/>
          </a:prstGeom>
          <a:solidFill>
            <a:srgbClr val="1C222F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37960" y="2075688"/>
            <a:ext cx="51206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C9D1D9"/>
                </a:solidFill>
                <a:latin typeface="Segoe UI"/>
              </a:rPr>
              <a:t>Default parameters, reproducible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2587752"/>
            <a:ext cx="365760" cy="512064"/>
          </a:xfrm>
          <a:prstGeom prst="rect">
            <a:avLst/>
          </a:prstGeom>
          <a:solidFill>
            <a:srgbClr val="161B27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2587752"/>
            <a:ext cx="2743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C9D1D9"/>
                </a:solidFill>
                <a:latin typeface="Segoe UI"/>
              </a:rPr>
              <a:t>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31520" y="2587752"/>
            <a:ext cx="2194560" cy="512064"/>
          </a:xfrm>
          <a:prstGeom prst="rect">
            <a:avLst/>
          </a:prstGeom>
          <a:solidFill>
            <a:srgbClr val="161B27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240" y="2587752"/>
            <a:ext cx="21031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C9D1D9"/>
                </a:solidFill>
                <a:latin typeface="Segoe UI"/>
              </a:rPr>
              <a:t>Lakshman Pukhraj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926080" y="2587752"/>
            <a:ext cx="1005840" cy="512064"/>
          </a:xfrm>
          <a:prstGeom prst="rect">
            <a:avLst/>
          </a:prstGeom>
          <a:solidFill>
            <a:srgbClr val="161B27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971800" y="2587752"/>
            <a:ext cx="9144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C9D1D9"/>
                </a:solidFill>
                <a:latin typeface="Segoe UI"/>
              </a:rPr>
              <a:t>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931920" y="2587752"/>
            <a:ext cx="2560320" cy="512064"/>
          </a:xfrm>
          <a:prstGeom prst="rect">
            <a:avLst/>
          </a:prstGeom>
          <a:solidFill>
            <a:srgbClr val="161B27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977640" y="2587752"/>
            <a:ext cx="2468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C9D1D9"/>
                </a:solidFill>
                <a:latin typeface="Segoe UI"/>
              </a:rPr>
              <a:t>Conservative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92240" y="2587752"/>
            <a:ext cx="5212080" cy="512064"/>
          </a:xfrm>
          <a:prstGeom prst="rect">
            <a:avLst/>
          </a:prstGeom>
          <a:solidFill>
            <a:srgbClr val="161B27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37960" y="2587752"/>
            <a:ext cx="51206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C9D1D9"/>
                </a:solidFill>
                <a:latin typeface="Segoe UI"/>
              </a:rPr>
              <a:t>Low mutation, stable convergence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099816"/>
            <a:ext cx="365760" cy="512064"/>
          </a:xfrm>
          <a:prstGeom prst="rect">
            <a:avLst/>
          </a:prstGeom>
          <a:solidFill>
            <a:srgbClr val="1C222F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3099816"/>
            <a:ext cx="2743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C9D1D9"/>
                </a:solidFill>
                <a:latin typeface="Segoe UI"/>
              </a:rPr>
              <a:t>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31520" y="3099816"/>
            <a:ext cx="2194560" cy="512064"/>
          </a:xfrm>
          <a:prstGeom prst="rect">
            <a:avLst/>
          </a:prstGeom>
          <a:solidFill>
            <a:srgbClr val="1C222F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77240" y="3099816"/>
            <a:ext cx="21031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C9D1D9"/>
                </a:solidFill>
                <a:latin typeface="Segoe UI"/>
              </a:rPr>
              <a:t>Johitha Konduru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926080" y="3099816"/>
            <a:ext cx="1005840" cy="512064"/>
          </a:xfrm>
          <a:prstGeom prst="rect">
            <a:avLst/>
          </a:prstGeom>
          <a:solidFill>
            <a:srgbClr val="1C222F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971800" y="3099816"/>
            <a:ext cx="9144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C9D1D9"/>
                </a:solidFill>
                <a:latin typeface="Segoe UI"/>
              </a:rPr>
              <a:t>4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931920" y="3099816"/>
            <a:ext cx="2560320" cy="512064"/>
          </a:xfrm>
          <a:prstGeom prst="rect">
            <a:avLst/>
          </a:prstGeom>
          <a:solidFill>
            <a:srgbClr val="1C222F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977640" y="3099816"/>
            <a:ext cx="2468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C9D1D9"/>
                </a:solidFill>
                <a:latin typeface="Segoe UI"/>
              </a:rPr>
              <a:t>Elite-Focused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92240" y="3099816"/>
            <a:ext cx="5212080" cy="512064"/>
          </a:xfrm>
          <a:prstGeom prst="rect">
            <a:avLst/>
          </a:prstGeom>
          <a:solidFill>
            <a:srgbClr val="1C222F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537960" y="3099816"/>
            <a:ext cx="51206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C9D1D9"/>
                </a:solidFill>
                <a:latin typeface="Segoe UI"/>
              </a:rPr>
              <a:t>Large top_k, preserves best genes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3840480"/>
            <a:ext cx="11430000" cy="1280160"/>
          </a:xfrm>
          <a:prstGeom prst="rect">
            <a:avLst/>
          </a:prstGeom>
          <a:solidFill>
            <a:srgbClr val="161B27"/>
          </a:solidFill>
          <a:ln w="635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02920" y="3913632"/>
            <a:ext cx="1120140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 b="1">
                <a:solidFill>
                  <a:srgbClr val="FFFFFF"/>
                </a:solidFill>
                <a:latin typeface="Segoe UI"/>
              </a:rPr>
              <a:t>• All students run the same codebase — only config.yaml differs per student</a:t>
            </a:r>
          </a:p>
          <a:p>
            <a:pPr/>
            <a:r>
              <a:rPr sz="1300" b="1">
                <a:solidFill>
                  <a:srgbClr val="FFFFFF"/>
                </a:solidFill>
                <a:latin typeface="Segoe UI"/>
              </a:rPr>
              <a:t>• Config ID 5 = Demo Student (used in live demonstrations)</a:t>
            </a:r>
          </a:p>
          <a:p>
            <a:pPr/>
            <a:r>
              <a:rPr sz="1300" b="1">
                <a:solidFill>
                  <a:srgbClr val="FFFFFF"/>
                </a:solidFill>
                <a:latin typeface="Segoe UI"/>
              </a:rPr>
              <a:t>• seed: 42 applied to both random and numpy at the start of every run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064240" y="649224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9939B"/>
                </a:solidFill>
                <a:latin typeface="Segoe UI"/>
              </a:rP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E1117"/>
                </a:solidFill>
                <a:latin typeface="Segoe UI Semibold"/>
              </a:rPr>
              <a:t>Motivation &amp; 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2296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9939B"/>
                </a:solidFill>
                <a:latin typeface="Segoe UI"/>
              </a:rPr>
              <a:t>Why evolve code?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5486400" cy="4389120"/>
          </a:xfrm>
          <a:prstGeom prst="rect">
            <a:avLst/>
          </a:prstGeom>
          <a:solidFill>
            <a:srgbClr val="161B27"/>
          </a:solidFill>
          <a:ln w="635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78992"/>
            <a:ext cx="5257800" cy="4242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 b="1">
                <a:solidFill>
                  <a:srgbClr val="FFFFFF"/>
                </a:solidFill>
                <a:latin typeface="Segoe UI"/>
              </a:rPr>
              <a:t>• AlphaEvolve (Google DeepMind, 2025)</a:t>
            </a:r>
          </a:p>
          <a:p>
            <a:pPr lvl="1"/>
            <a:r>
              <a:rPr sz="1200">
                <a:solidFill>
                  <a:srgbClr val="C9D1D9"/>
                </a:solidFill>
                <a:latin typeface="Segoe UI"/>
              </a:rPr>
              <a:t>    ◦ Gemini proposes code mutations</a:t>
            </a:r>
          </a:p>
          <a:p>
            <a:pPr lvl="1"/>
            <a:r>
              <a:rPr sz="1200">
                <a:solidFill>
                  <a:srgbClr val="C9D1D9"/>
                </a:solidFill>
                <a:latin typeface="Segoe UI"/>
              </a:rPr>
              <a:t>    ◦ Evolutionary algorithm selects winners</a:t>
            </a:r>
          </a:p>
          <a:p>
            <a:pPr lvl="1"/>
            <a:r>
              <a:rPr sz="1200">
                <a:solidFill>
                  <a:srgbClr val="C9D1D9"/>
                </a:solidFill>
                <a:latin typeface="Segoe UI"/>
              </a:rPr>
              <a:t>    ◦ Rediscovered matrix-multiply records</a:t>
            </a:r>
          </a:p>
          <a:p>
            <a:pPr/>
            <a:r>
              <a:rPr sz="1300" b="1">
                <a:solidFill>
                  <a:srgbClr val="FFFFFF"/>
                </a:solidFill>
                <a:latin typeface="Segoe UI"/>
              </a:rPr>
              <a:t>• What We Built</a:t>
            </a:r>
          </a:p>
          <a:p>
            <a:pPr lvl="1"/>
            <a:r>
              <a:rPr sz="1200">
                <a:solidFill>
                  <a:srgbClr val="C9D1D9"/>
                </a:solidFill>
                <a:latin typeface="Segoe UI"/>
              </a:rPr>
              <a:t>    ◦ Simplified, reproducible AlphaEvolve</a:t>
            </a:r>
          </a:p>
          <a:p>
            <a:pPr lvl="1"/>
            <a:r>
              <a:rPr sz="1200">
                <a:solidFill>
                  <a:srgbClr val="C9D1D9"/>
                </a:solidFill>
                <a:latin typeface="Segoe UI"/>
              </a:rPr>
              <a:t>    ◦ 3 problems: Pacman · Matrix · Sort</a:t>
            </a:r>
          </a:p>
          <a:p>
            <a:pPr lvl="1"/>
            <a:r>
              <a:rPr sz="1200">
                <a:solidFill>
                  <a:srgbClr val="C9D1D9"/>
                </a:solidFill>
                <a:latin typeface="Segoe UI"/>
              </a:rPr>
              <a:t>    ◦ 3 LLM backends: Ollama · OpenAI · llama.cpp</a:t>
            </a:r>
          </a:p>
          <a:p>
            <a:pPr lvl="1"/>
            <a:r>
              <a:rPr sz="1200">
                <a:solidFill>
                  <a:srgbClr val="C9D1D9"/>
                </a:solidFill>
                <a:latin typeface="Segoe UI"/>
              </a:rPr>
              <a:t>    ◦ Full UI + REST API + CLI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0" y="1005840"/>
            <a:ext cx="5486400" cy="4389120"/>
          </a:xfrm>
          <a:prstGeom prst="rect">
            <a:avLst/>
          </a:prstGeom>
          <a:solidFill>
            <a:srgbClr val="161B27"/>
          </a:solidFill>
          <a:ln w="635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63640" y="1078992"/>
            <a:ext cx="5257800" cy="4242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 b="1">
                <a:solidFill>
                  <a:srgbClr val="FFFFFF"/>
                </a:solidFill>
                <a:latin typeface="Segoe UI"/>
              </a:rPr>
              <a:t>• Core Research Question</a:t>
            </a:r>
          </a:p>
          <a:p>
            <a:pPr lvl="1"/>
            <a:r>
              <a:rPr sz="1200">
                <a:solidFill>
                  <a:srgbClr val="C9D1D9"/>
                </a:solidFill>
                <a:latin typeface="Segoe UI"/>
              </a:rPr>
              <a:t>    ◦ Can an LLM outperform random mutation?</a:t>
            </a:r>
          </a:p>
          <a:p>
            <a:pPr lvl="1"/>
            <a:r>
              <a:rPr sz="1200">
                <a:solidFill>
                  <a:srgbClr val="C9D1D9"/>
                </a:solidFill>
                <a:latin typeface="Segoe UI"/>
              </a:rPr>
              <a:t>    ◦ By how much? Is it consistent?</a:t>
            </a:r>
          </a:p>
          <a:p>
            <a:pPr lvl="1"/>
            <a:r>
              <a:rPr sz="1200">
                <a:solidFill>
                  <a:srgbClr val="C9D1D9"/>
                </a:solidFill>
                <a:latin typeface="Segoe UI"/>
              </a:rPr>
              <a:t>    ◦ Does a smart seed matter?</a:t>
            </a:r>
          </a:p>
          <a:p>
            <a:pPr/>
            <a:r>
              <a:rPr sz="1300" b="1">
                <a:solidFill>
                  <a:srgbClr val="FFFFFF"/>
                </a:solidFill>
                <a:latin typeface="Segoe UI"/>
              </a:rPr>
              <a:t>• AOA Connections</a:t>
            </a:r>
          </a:p>
          <a:p>
            <a:pPr lvl="1"/>
            <a:r>
              <a:rPr sz="1200">
                <a:solidFill>
                  <a:srgbClr val="C9D1D9"/>
                </a:solidFill>
                <a:latin typeface="Segoe UI"/>
              </a:rPr>
              <a:t>    ◦ Greedy selection (top-K elites)</a:t>
            </a:r>
          </a:p>
          <a:p>
            <a:pPr lvl="1"/>
            <a:r>
              <a:rPr sz="1200">
                <a:solidFill>
                  <a:srgbClr val="C9D1D9"/>
                </a:solidFill>
                <a:latin typeface="Segoe UI"/>
              </a:rPr>
              <a:t>    ◦ Local search (mutation neighbourhood)</a:t>
            </a:r>
          </a:p>
          <a:p>
            <a:pPr lvl="1"/>
            <a:r>
              <a:rPr sz="1200">
                <a:solidFill>
                  <a:srgbClr val="C9D1D9"/>
                </a:solidFill>
                <a:latin typeface="Segoe UI"/>
              </a:rPr>
              <a:t>    ◦ Randomised algorithms (mutation ops)</a:t>
            </a:r>
          </a:p>
          <a:p>
            <a:pPr lvl="1"/>
            <a:r>
              <a:rPr sz="1200">
                <a:solidFill>
                  <a:srgbClr val="C9D1D9"/>
                </a:solidFill>
                <a:latin typeface="Segoe UI"/>
              </a:rPr>
              <a:t>    ◦ Approximation: fitness ≈ true quality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9224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9939B"/>
                </a:solidFill>
                <a:latin typeface="Segoe UI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E1117"/>
                </a:solidFill>
                <a:latin typeface="Segoe UI Semibold"/>
              </a:rP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2296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9939B"/>
                </a:solidFill>
                <a:latin typeface="Segoe UI"/>
              </a:rPr>
              <a:t>6-layer modular design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05840"/>
            <a:ext cx="11612880" cy="5440680"/>
          </a:xfrm>
          <a:prstGeom prst="rect">
            <a:avLst/>
          </a:prstGeom>
          <a:solidFill>
            <a:srgbClr val="010510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1078992"/>
            <a:ext cx="11393424" cy="52943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79C0FF"/>
                </a:solidFill>
                <a:latin typeface="Consolas"/>
              </a:rPr>
              <a:t>┌── USER INTERFACE LAYER ─────────────────────────────────────┐</a:t>
            </a:r>
          </a:p>
          <a:p>
            <a:r>
              <a:rPr sz="950">
                <a:solidFill>
                  <a:srgbClr val="79C0FF"/>
                </a:solidFill>
                <a:latin typeface="Consolas"/>
              </a:rPr>
              <a:t>│  app.py (Streamlit)   api.py (FastAPI)   run_experiment.py  │</a:t>
            </a:r>
          </a:p>
          <a:p>
            <a:r>
              <a:rPr sz="950">
                <a:solidFill>
                  <a:srgbClr val="79C0FF"/>
                </a:solidFill>
                <a:latin typeface="Consolas"/>
              </a:rPr>
              <a:t>└──────────────────────────────┬──────────────────────────────┘</a:t>
            </a:r>
          </a:p>
          <a:p>
            <a:r>
              <a:rPr sz="950">
                <a:solidFill>
                  <a:srgbClr val="79C0FF"/>
                </a:solidFill>
                <a:latin typeface="Consolas"/>
              </a:rPr>
              <a:t>                               │ run_experiment(cfg, problem)</a:t>
            </a:r>
          </a:p>
          <a:p>
            <a:r>
              <a:rPr sz="950">
                <a:solidFill>
                  <a:srgbClr val="79C0FF"/>
                </a:solidFill>
                <a:latin typeface="Consolas"/>
              </a:rPr>
              <a:t>┌── ORCHESTRATION ─────────────▼──────────────────────────────┐</a:t>
            </a:r>
          </a:p>
          <a:p>
            <a:r>
              <a:rPr sz="950">
                <a:solidFill>
                  <a:srgbClr val="79C0FF"/>
                </a:solidFill>
                <a:latin typeface="Consolas"/>
              </a:rPr>
              <a:t>│  runner.py  •  seed RNG  •  load templates  •  save CSV/XLS │</a:t>
            </a:r>
          </a:p>
          <a:p>
            <a:r>
              <a:rPr sz="950">
                <a:solidFill>
                  <a:srgbClr val="79C0FF"/>
                </a:solidFill>
                <a:latin typeface="Consolas"/>
              </a:rPr>
              <a:t>└──────────────────────────────┬──────────────────────────────┘</a:t>
            </a:r>
          </a:p>
          <a:p>
            <a:r>
              <a:rPr sz="950">
                <a:solidFill>
                  <a:srgbClr val="79C0FF"/>
                </a:solidFill>
                <a:latin typeface="Consolas"/>
              </a:rPr>
              <a:t>                               │</a:t>
            </a:r>
          </a:p>
          <a:p>
            <a:r>
              <a:rPr sz="950">
                <a:solidFill>
                  <a:srgbClr val="79C0FF"/>
                </a:solidFill>
                <a:latin typeface="Consolas"/>
              </a:rPr>
              <a:t>┌── EVOLUTION CORE ────────────▼──────────────────────────────┐</a:t>
            </a:r>
          </a:p>
          <a:p>
            <a:r>
              <a:rPr sz="950">
                <a:solidFill>
                  <a:srgbClr val="79C0FF"/>
                </a:solidFill>
                <a:latin typeface="Consolas"/>
              </a:rPr>
              <a:t>│  evolve.py: evaluate → sort → top_k → mutate → repeat       │</a:t>
            </a:r>
          </a:p>
          <a:p>
            <a:r>
              <a:rPr sz="950">
                <a:solidFill>
                  <a:srgbClr val="79C0FF"/>
                </a:solidFill>
                <a:latin typeface="Consolas"/>
              </a:rPr>
              <a:t>│  mutations.py: perturb · swap_lines · replace_fragment       │</a:t>
            </a:r>
          </a:p>
          <a:p>
            <a:r>
              <a:rPr sz="950">
                <a:solidFill>
                  <a:srgbClr val="79C0FF"/>
                </a:solidFill>
                <a:latin typeface="Consolas"/>
              </a:rPr>
              <a:t>└────────────────────┬─────────────────────┬──────────────────┘</a:t>
            </a:r>
          </a:p>
          <a:p>
            <a:r>
              <a:rPr sz="950">
                <a:solidFill>
                  <a:srgbClr val="79C0FF"/>
                </a:solidFill>
                <a:latin typeface="Consolas"/>
              </a:rPr>
              <a:t>                     │                     │</a:t>
            </a:r>
          </a:p>
          <a:p>
            <a:r>
              <a:rPr sz="950">
                <a:solidFill>
                  <a:srgbClr val="79C0FF"/>
                </a:solidFill>
                <a:latin typeface="Consolas"/>
              </a:rPr>
              <a:t>┌── LLM MODULE ──────▼──────┐  ┌── EVALUATORS ───────────────┐</a:t>
            </a:r>
          </a:p>
          <a:p>
            <a:r>
              <a:rPr sz="950">
                <a:solidFill>
                  <a:srgbClr val="79C0FF"/>
                </a:solidFill>
                <a:latin typeface="Consolas"/>
              </a:rPr>
              <a:t>│  ollama_client.py          │  │  matrix.py  pacman.py       │</a:t>
            </a:r>
          </a:p>
          <a:p>
            <a:r>
              <a:rPr sz="950">
                <a:solidFill>
                  <a:srgbClr val="79C0FF"/>
                </a:solidFill>
                <a:latin typeface="Consolas"/>
              </a:rPr>
              <a:t>│  remote.py (OpenAI/Gemini) │  │  pseudocode.py (bonus)      │</a:t>
            </a:r>
          </a:p>
          <a:p>
            <a:r>
              <a:rPr sz="950">
                <a:solidFill>
                  <a:srgbClr val="79C0FF"/>
                </a:solidFill>
                <a:latin typeface="Consolas"/>
              </a:rPr>
              <a:t>│  local.py  (llama.cpp)     │  │  wrappers.py                │</a:t>
            </a:r>
          </a:p>
          <a:p>
            <a:r>
              <a:rPr sz="950">
                <a:solidFill>
                  <a:srgbClr val="79C0FF"/>
                </a:solidFill>
                <a:latin typeface="Consolas"/>
              </a:rPr>
              <a:t>└────────────────────────────┘  └─────────────┬───────────────┘</a:t>
            </a:r>
          </a:p>
          <a:p>
            <a:r>
              <a:rPr sz="950">
                <a:solidFill>
                  <a:srgbClr val="79C0FF"/>
                </a:solidFill>
                <a:latin typeface="Consolas"/>
              </a:rPr>
              <a:t>                                              │</a:t>
            </a:r>
          </a:p>
          <a:p>
            <a:r>
              <a:rPr sz="950">
                <a:solidFill>
                  <a:srgbClr val="79C0FF"/>
                </a:solidFill>
                <a:latin typeface="Consolas"/>
              </a:rPr>
              <a:t>                               ┌── CACHE ─────▼───────────────┐</a:t>
            </a:r>
          </a:p>
          <a:p>
            <a:r>
              <a:rPr sz="950">
                <a:solidFill>
                  <a:srgbClr val="79C0FF"/>
                </a:solidFill>
                <a:latin typeface="Consolas"/>
              </a:rPr>
              <a:t>                               │  cache.py   SHA-256 + JSONL  │</a:t>
            </a:r>
          </a:p>
          <a:p>
            <a:r>
              <a:rPr sz="950">
                <a:solidFill>
                  <a:srgbClr val="79C0FF"/>
                </a:solidFill>
                <a:latin typeface="Consolas"/>
              </a:rPr>
              <a:t>                               │  vector_cache.py  cosine-sim │</a:t>
            </a:r>
          </a:p>
          <a:p>
            <a:r>
              <a:rPr sz="950">
                <a:solidFill>
                  <a:srgbClr val="79C0FF"/>
                </a:solidFill>
                <a:latin typeface="Consolas"/>
              </a:rPr>
              <a:t>                               └──────────────────────────────┘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9939B"/>
                </a:solidFill>
                <a:latin typeface="Segoe UI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E1117"/>
                </a:solidFill>
                <a:latin typeface="Segoe UI Semibold"/>
              </a:rPr>
              <a:t>The Evolutionary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2296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9939B"/>
                </a:solidFill>
                <a:latin typeface="Segoe UI"/>
              </a:rPr>
              <a:t>How candidates improve each generation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828800" cy="77724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097280"/>
            <a:ext cx="1737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E1117"/>
                </a:solidFill>
                <a:latin typeface="Segoe UI Semibold"/>
              </a:rPr>
              <a:t>① Initialise</a:t>
            </a:r>
          </a:p>
        </p:txBody>
      </p:sp>
      <p:sp>
        <p:nvSpPr>
          <p:cNvPr id="7" name="Rectangle 6"/>
          <p:cNvSpPr/>
          <p:nvPr/>
        </p:nvSpPr>
        <p:spPr>
          <a:xfrm>
            <a:off x="2331720" y="1097280"/>
            <a:ext cx="9509760" cy="777240"/>
          </a:xfrm>
          <a:prstGeom prst="rect">
            <a:avLst/>
          </a:prstGeom>
          <a:solidFill>
            <a:srgbClr val="161B27"/>
          </a:solidFill>
          <a:ln w="635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23160" y="1097280"/>
            <a:ext cx="9326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9D1D9"/>
                </a:solidFill>
                <a:latin typeface="Segoe UI"/>
              </a:rPr>
              <a:t>Copy base_code × population_size into generation 0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011680"/>
            <a:ext cx="1828800" cy="77724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2011680"/>
            <a:ext cx="1737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E1117"/>
                </a:solidFill>
                <a:latin typeface="Segoe UI Semibold"/>
              </a:rPr>
              <a:t>② Evaluate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2011680"/>
            <a:ext cx="9509760" cy="777240"/>
          </a:xfrm>
          <a:prstGeom prst="rect">
            <a:avLst/>
          </a:prstGeom>
          <a:solidFill>
            <a:srgbClr val="161B27"/>
          </a:solidFill>
          <a:ln w="635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23160" y="2011680"/>
            <a:ext cx="9326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9D1D9"/>
                </a:solidFill>
                <a:latin typeface="Segoe UI"/>
              </a:rPr>
              <a:t>Run evaluator on each candidate → fitness ∈ [0,1]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926080"/>
            <a:ext cx="1828800" cy="77724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2926080"/>
            <a:ext cx="1737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E1117"/>
                </a:solidFill>
                <a:latin typeface="Segoe UI Semibold"/>
              </a:rPr>
              <a:t>③ Select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31720" y="2926080"/>
            <a:ext cx="9509760" cy="777240"/>
          </a:xfrm>
          <a:prstGeom prst="rect">
            <a:avLst/>
          </a:prstGeom>
          <a:solidFill>
            <a:srgbClr val="161B27"/>
          </a:solidFill>
          <a:ln w="635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23160" y="2926080"/>
            <a:ext cx="9326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9D1D9"/>
                </a:solidFill>
                <a:latin typeface="Segoe UI"/>
              </a:rPr>
              <a:t>Sort by fitness → keep top_k elites unchanged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840480"/>
            <a:ext cx="1828800" cy="77724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840480"/>
            <a:ext cx="1737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E1117"/>
                </a:solidFill>
                <a:latin typeface="Segoe UI Semibold"/>
              </a:rPr>
              <a:t>④ Breed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31720" y="3840480"/>
            <a:ext cx="9509760" cy="777240"/>
          </a:xfrm>
          <a:prstGeom prst="rect">
            <a:avLst/>
          </a:prstGeom>
          <a:solidFill>
            <a:srgbClr val="161B27"/>
          </a:solidFill>
          <a:ln w="635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23160" y="3840480"/>
            <a:ext cx="9326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9D1D9"/>
                </a:solidFill>
                <a:latin typeface="Segoe UI"/>
              </a:rPr>
              <a:t>Fill remaining slots:
  40% clone elite
  40% random mutate
  20% LLM improve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5029200"/>
            <a:ext cx="1828800" cy="77724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5029200"/>
            <a:ext cx="1737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E1117"/>
                </a:solidFill>
                <a:latin typeface="Segoe UI Semibold"/>
              </a:rPr>
              <a:t>⑤ Repeat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331720" y="5029200"/>
            <a:ext cx="9509760" cy="777240"/>
          </a:xfrm>
          <a:prstGeom prst="rect">
            <a:avLst/>
          </a:prstGeom>
          <a:solidFill>
            <a:srgbClr val="161B27"/>
          </a:solidFill>
          <a:ln w="635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23160" y="5029200"/>
            <a:ext cx="9326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9D1D9"/>
                </a:solidFill>
                <a:latin typeface="Segoe UI"/>
              </a:rPr>
              <a:t>Go to ② until max_generations reached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88720" y="1993392"/>
            <a:ext cx="182880" cy="22860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88720" y="2907792"/>
            <a:ext cx="182880" cy="22860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88720" y="3822192"/>
            <a:ext cx="182880" cy="22860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064240" y="649224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9939B"/>
                </a:solidFill>
                <a:latin typeface="Segoe UI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E1117"/>
                </a:solidFill>
                <a:latin typeface="Segoe UI Semibold"/>
              </a:rPr>
              <a:t>Three Evolution Modes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2296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9939B"/>
                </a:solidFill>
                <a:latin typeface="Segoe UI"/>
              </a:rPr>
              <a:t>Controlled comparison experiment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51560"/>
            <a:ext cx="2011680" cy="50292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05156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E1117"/>
                </a:solidFill>
                <a:latin typeface="Segoe UI Semibold"/>
              </a:rPr>
              <a:t>Mode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0" y="1051560"/>
            <a:ext cx="2560320" cy="50292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331720" y="105156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E1117"/>
                </a:solidFill>
                <a:latin typeface="Segoe UI Semibold"/>
              </a:rPr>
              <a:t>Mutations Applied</a:t>
            </a:r>
          </a:p>
        </p:txBody>
      </p:sp>
      <p:sp>
        <p:nvSpPr>
          <p:cNvPr id="9" name="Rectangle 8"/>
          <p:cNvSpPr/>
          <p:nvPr/>
        </p:nvSpPr>
        <p:spPr>
          <a:xfrm>
            <a:off x="4846320" y="1051560"/>
            <a:ext cx="1188720" cy="50292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92040" y="105156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E1117"/>
                </a:solidFill>
                <a:latin typeface="Segoe UI Semibold"/>
              </a:rPr>
              <a:t>LLM Calls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1051560"/>
            <a:ext cx="2468880" cy="50292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0760" y="105156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E1117"/>
                </a:solidFill>
                <a:latin typeface="Segoe UI Semibold"/>
              </a:rPr>
              <a:t>Purpose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03920" y="1051560"/>
            <a:ext cx="3017520" cy="50292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49640" y="105156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E1117"/>
                </a:solidFill>
                <a:latin typeface="Segoe UI Semibold"/>
              </a:rPr>
              <a:t>Expected Improvement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1554480"/>
            <a:ext cx="2011680" cy="502920"/>
          </a:xfrm>
          <a:prstGeom prst="rect">
            <a:avLst/>
          </a:prstGeom>
          <a:solidFill>
            <a:srgbClr val="161B27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" y="155448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C9D1D9"/>
                </a:solidFill>
                <a:latin typeface="Segoe UI"/>
              </a:rPr>
              <a:t>no_evolution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86000" y="1554480"/>
            <a:ext cx="2560320" cy="502920"/>
          </a:xfrm>
          <a:prstGeom prst="rect">
            <a:avLst/>
          </a:prstGeom>
          <a:solidFill>
            <a:srgbClr val="161B27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31720" y="155448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C9D1D9"/>
                </a:solidFill>
                <a:latin typeface="Segoe UI"/>
              </a:rPr>
              <a:t>None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46320" y="1554480"/>
            <a:ext cx="1188720" cy="502920"/>
          </a:xfrm>
          <a:prstGeom prst="rect">
            <a:avLst/>
          </a:prstGeom>
          <a:solidFill>
            <a:srgbClr val="161B27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92040" y="155448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C9D1D9"/>
                </a:solidFill>
                <a:latin typeface="Segoe UI"/>
              </a:rPr>
              <a:t>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35040" y="1554480"/>
            <a:ext cx="2468880" cy="502920"/>
          </a:xfrm>
          <a:prstGeom prst="rect">
            <a:avLst/>
          </a:prstGeom>
          <a:solidFill>
            <a:srgbClr val="161B27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80760" y="155448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C9D1D9"/>
                </a:solidFill>
                <a:latin typeface="Segoe UI"/>
              </a:rPr>
              <a:t>Baseline F₀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503920" y="1554480"/>
            <a:ext cx="3017520" cy="502920"/>
          </a:xfrm>
          <a:prstGeom prst="rect">
            <a:avLst/>
          </a:prstGeom>
          <a:solidFill>
            <a:srgbClr val="161B27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49640" y="155448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C9D1D9"/>
                </a:solidFill>
                <a:latin typeface="Segoe UI"/>
              </a:rPr>
              <a:t>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2057400"/>
            <a:ext cx="2011680" cy="502920"/>
          </a:xfrm>
          <a:prstGeom prst="rect">
            <a:avLst/>
          </a:prstGeom>
          <a:solidFill>
            <a:srgbClr val="1C222F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0040" y="205740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C9D1D9"/>
                </a:solidFill>
                <a:latin typeface="Segoe UI"/>
              </a:rPr>
              <a:t>random_mutation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86000" y="2057400"/>
            <a:ext cx="2560320" cy="502920"/>
          </a:xfrm>
          <a:prstGeom prst="rect">
            <a:avLst/>
          </a:prstGeom>
          <a:solidFill>
            <a:srgbClr val="1C222F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331720" y="205740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C9D1D9"/>
                </a:solidFill>
                <a:latin typeface="Segoe UI"/>
              </a:rPr>
              <a:t>perturb/swap/template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46320" y="2057400"/>
            <a:ext cx="1188720" cy="502920"/>
          </a:xfrm>
          <a:prstGeom prst="rect">
            <a:avLst/>
          </a:prstGeom>
          <a:solidFill>
            <a:srgbClr val="1C222F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92040" y="205740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C9D1D9"/>
                </a:solidFill>
                <a:latin typeface="Segoe UI"/>
              </a:rPr>
              <a:t>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35040" y="2057400"/>
            <a:ext cx="2468880" cy="502920"/>
          </a:xfrm>
          <a:prstGeom prst="rect">
            <a:avLst/>
          </a:prstGeom>
          <a:solidFill>
            <a:srgbClr val="1C222F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80760" y="205740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C9D1D9"/>
                </a:solidFill>
                <a:latin typeface="Segoe UI"/>
              </a:rPr>
              <a:t>Random search bound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3920" y="2057400"/>
            <a:ext cx="3017520" cy="502920"/>
          </a:xfrm>
          <a:prstGeom prst="rect">
            <a:avLst/>
          </a:prstGeom>
          <a:solidFill>
            <a:srgbClr val="1C222F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49640" y="205740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C9D1D9"/>
                </a:solidFill>
                <a:latin typeface="Segoe UI"/>
              </a:rPr>
              <a:t>+15–25%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2560320"/>
            <a:ext cx="2011680" cy="502920"/>
          </a:xfrm>
          <a:prstGeom prst="rect">
            <a:avLst/>
          </a:prstGeom>
          <a:solidFill>
            <a:srgbClr val="161B27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20040" y="256032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C9D1D9"/>
                </a:solidFill>
                <a:latin typeface="Segoe UI"/>
              </a:rPr>
              <a:t>llm_guided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286000" y="2560320"/>
            <a:ext cx="2560320" cy="502920"/>
          </a:xfrm>
          <a:prstGeom prst="rect">
            <a:avLst/>
          </a:prstGeom>
          <a:solidFill>
            <a:srgbClr val="161B27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331720" y="256032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C9D1D9"/>
                </a:solidFill>
                <a:latin typeface="Segoe UI"/>
              </a:rPr>
              <a:t>All + LLM improve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846320" y="2560320"/>
            <a:ext cx="1188720" cy="502920"/>
          </a:xfrm>
          <a:prstGeom prst="rect">
            <a:avLst/>
          </a:prstGeom>
          <a:solidFill>
            <a:srgbClr val="161B27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892040" y="256032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C9D1D9"/>
                </a:solidFill>
                <a:latin typeface="Segoe UI"/>
              </a:rPr>
              <a:t>~20%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35040" y="2560320"/>
            <a:ext cx="2468880" cy="502920"/>
          </a:xfrm>
          <a:prstGeom prst="rect">
            <a:avLst/>
          </a:prstGeom>
          <a:solidFill>
            <a:srgbClr val="161B27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80760" y="256032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C9D1D9"/>
                </a:solidFill>
                <a:latin typeface="Segoe UI"/>
              </a:rPr>
              <a:t>AI benefit proof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503920" y="2560320"/>
            <a:ext cx="3017520" cy="502920"/>
          </a:xfrm>
          <a:prstGeom prst="rect">
            <a:avLst/>
          </a:prstGeom>
          <a:solidFill>
            <a:srgbClr val="161B27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549640" y="256032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C9D1D9"/>
                </a:solidFill>
                <a:latin typeface="Segoe UI"/>
              </a:rPr>
              <a:t>+40–55%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3291840"/>
            <a:ext cx="11612880" cy="1645920"/>
          </a:xfrm>
          <a:prstGeom prst="rect">
            <a:avLst/>
          </a:prstGeom>
          <a:solidFill>
            <a:srgbClr val="161B27"/>
          </a:solidFill>
          <a:ln w="635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3364992"/>
            <a:ext cx="11384280" cy="1499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 b="1">
                <a:solidFill>
                  <a:srgbClr val="FFFFFF"/>
                </a:solidFill>
                <a:latin typeface="Segoe UI"/>
              </a:rPr>
              <a:t>• All three modes run on the same seed code with the same RNG seed (42)</a:t>
            </a:r>
          </a:p>
          <a:p>
            <a:pPr/>
            <a:r>
              <a:rPr sz="1300" b="1">
                <a:solidFill>
                  <a:srgbClr val="FFFFFF"/>
                </a:solidFill>
                <a:latin typeface="Segoe UI"/>
              </a:rPr>
              <a:t>• Running all modes in one experiment guarantees a fair, reproducible comparison</a:t>
            </a:r>
          </a:p>
          <a:p>
            <a:pPr/>
            <a:r>
              <a:rPr sz="1300" b="1">
                <a:solidFill>
                  <a:srgbClr val="FFFFFF"/>
                </a:solidFill>
                <a:latin typeface="Segoe UI"/>
              </a:rPr>
              <a:t>• Key finding: LLM-guided consistently outperforms random — not just by luck</a:t>
            </a:r>
          </a:p>
          <a:p>
            <a:pPr/>
            <a:r>
              <a:rPr sz="1300" b="1">
                <a:solidFill>
                  <a:srgbClr val="FFFFFF"/>
                </a:solidFill>
                <a:latin typeface="Segoe UI"/>
              </a:rPr>
              <a:t>• Ollama (qwen2.5-coder:7b) used locally — no internet/API key required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064240" y="649224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9939B"/>
                </a:solidFill>
                <a:latin typeface="Segoe UI"/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E1117"/>
                </a:solidFill>
                <a:latin typeface="Segoe UI Semibold"/>
              </a:rPr>
              <a:t>Fitness Functions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2296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9939B"/>
                </a:solidFill>
                <a:latin typeface="Segoe UI"/>
              </a:rPr>
              <a:t>All values normalised to [0, 1]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960120"/>
            <a:ext cx="3657600" cy="50292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960120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E1117"/>
                </a:solidFill>
                <a:latin typeface="Segoe UI Semibold"/>
              </a:rPr>
              <a:t>Pacman Agent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463040"/>
            <a:ext cx="3657600" cy="3520440"/>
          </a:xfrm>
          <a:prstGeom prst="rect">
            <a:avLst/>
          </a:prstGeom>
          <a:solidFill>
            <a:srgbClr val="010510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1536192"/>
            <a:ext cx="3438144" cy="33741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79C0FF"/>
                </a:solidFill>
                <a:latin typeface="Consolas"/>
              </a:rPr>
              <a:t>F = 0.6 × score_norm</a:t>
            </a:r>
          </a:p>
          <a:p>
            <a:r>
              <a:rPr sz="1100">
                <a:solidFill>
                  <a:srgbClr val="79C0FF"/>
                </a:solidFill>
                <a:latin typeface="Consolas"/>
              </a:rPr>
              <a:t>  + 0.3 × survival_norm</a:t>
            </a:r>
          </a:p>
          <a:p>
            <a:r>
              <a:rPr sz="1100">
                <a:solidFill>
                  <a:srgbClr val="79C0FF"/>
                </a:solidFill>
                <a:latin typeface="Consolas"/>
              </a:rPr>
              <a:t>  − 0.1 × steps_norm</a:t>
            </a:r>
          </a:p>
          <a:p>
            <a:r>
              <a:rPr sz="1100">
                <a:solidFill>
                  <a:srgbClr val="79C0FF"/>
                </a:solidFill>
                <a:latin typeface="Consolas"/>
              </a:rPr>
              <a:t/>
            </a:r>
          </a:p>
          <a:p>
            <a:r>
              <a:rPr sz="1100">
                <a:solidFill>
                  <a:srgbClr val="79C0FF"/>
                </a:solidFill>
                <a:latin typeface="Consolas"/>
              </a:rPr>
              <a:t>• score:    points earned in game</a:t>
            </a:r>
          </a:p>
          <a:p>
            <a:r>
              <a:rPr sz="1100">
                <a:solidFill>
                  <a:srgbClr val="79C0FF"/>
                </a:solidFill>
                <a:latin typeface="Consolas"/>
              </a:rPr>
              <a:t>• survival: timesteps alive</a:t>
            </a:r>
          </a:p>
          <a:p>
            <a:r>
              <a:rPr sz="1100">
                <a:solidFill>
                  <a:srgbClr val="79C0FF"/>
                </a:solidFill>
                <a:latin typeface="Consolas"/>
              </a:rPr>
              <a:t>• steps:    moves made (penalised)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960120"/>
            <a:ext cx="3657600" cy="50292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51960" y="960120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E1117"/>
                </a:solidFill>
                <a:latin typeface="Segoe UI Semibold"/>
              </a:rPr>
              <a:t>3×3 Matrix Mult.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1463040"/>
            <a:ext cx="3657600" cy="3520440"/>
          </a:xfrm>
          <a:prstGeom prst="rect">
            <a:avLst/>
          </a:prstGeom>
          <a:solidFill>
            <a:srgbClr val="010510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15968" y="1536192"/>
            <a:ext cx="3438144" cy="33741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79C0FF"/>
                </a:solidFill>
                <a:latin typeface="Consolas"/>
              </a:rPr>
              <a:t>F = 0.7 × correctness</a:t>
            </a:r>
          </a:p>
          <a:p>
            <a:r>
              <a:rPr sz="1100">
                <a:solidFill>
                  <a:srgbClr val="79C0FF"/>
                </a:solidFill>
                <a:latin typeface="Consolas"/>
              </a:rPr>
              <a:t>  + 0.3 × (1 − ops_ratio)</a:t>
            </a:r>
          </a:p>
          <a:p>
            <a:r>
              <a:rPr sz="1100">
                <a:solidFill>
                  <a:srgbClr val="79C0FF"/>
                </a:solidFill>
                <a:latin typeface="Consolas"/>
              </a:rPr>
              <a:t/>
            </a:r>
          </a:p>
          <a:p>
            <a:r>
              <a:rPr sz="1100">
                <a:solidFill>
                  <a:srgbClr val="79C0FF"/>
                </a:solidFill>
                <a:latin typeface="Consolas"/>
              </a:rPr>
              <a:t>• correctness: fraction of 5 test</a:t>
            </a:r>
          </a:p>
          <a:p>
            <a:r>
              <a:rPr sz="1100">
                <a:solidFill>
                  <a:srgbClr val="79C0FF"/>
                </a:solidFill>
                <a:latin typeface="Consolas"/>
              </a:rPr>
              <a:t>  cases with exact result</a:t>
            </a:r>
          </a:p>
          <a:p>
            <a:r>
              <a:rPr sz="1100">
                <a:solidFill>
                  <a:srgbClr val="79C0FF"/>
                </a:solidFill>
                <a:latin typeface="Consolas"/>
              </a:rPr>
              <a:t>• ops_ratio: mults+adds / max_ops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960120"/>
            <a:ext cx="3657600" cy="50292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80" y="960120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E1117"/>
                </a:solidFill>
                <a:latin typeface="Segoe UI Semibold"/>
              </a:rPr>
              <a:t>Pseudocode (Bonus)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38160" y="1463040"/>
            <a:ext cx="3657600" cy="3520440"/>
          </a:xfrm>
          <a:prstGeom prst="rect">
            <a:avLst/>
          </a:prstGeom>
          <a:solidFill>
            <a:srgbClr val="010510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7888" y="1536192"/>
            <a:ext cx="3438144" cy="33741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79C0FF"/>
                </a:solidFill>
                <a:latin typeface="Consolas"/>
              </a:rPr>
              <a:t>F = w₁ × correctness</a:t>
            </a:r>
          </a:p>
          <a:p>
            <a:r>
              <a:rPr sz="1100">
                <a:solidFill>
                  <a:srgbClr val="79C0FF"/>
                </a:solidFill>
                <a:latin typeface="Consolas"/>
              </a:rPr>
              <a:t>  + w₂ × runtime_score</a:t>
            </a:r>
          </a:p>
          <a:p>
            <a:r>
              <a:rPr sz="1100">
                <a:solidFill>
                  <a:srgbClr val="79C0FF"/>
                </a:solidFill>
                <a:latin typeface="Consolas"/>
              </a:rPr>
              <a:t>  + w₃ × length_score</a:t>
            </a:r>
          </a:p>
          <a:p>
            <a:r>
              <a:rPr sz="1100">
                <a:solidFill>
                  <a:srgbClr val="79C0FF"/>
                </a:solidFill>
                <a:latin typeface="Consolas"/>
              </a:rPr>
              <a:t>  + w₄ × readability</a:t>
            </a:r>
          </a:p>
          <a:p>
            <a:r>
              <a:rPr sz="1100">
                <a:solidFill>
                  <a:srgbClr val="79C0FF"/>
                </a:solidFill>
                <a:latin typeface="Consolas"/>
              </a:rPr>
              <a:t>  where Σwᵢ = 1  (UI sliders)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512064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FFD700"/>
                </a:solidFill>
                <a:latin typeface="Segoe UI"/>
              </a:rPr>
              <a:t>Design principle: all metrics mapped to [0,1] so modes are directly comparable across problems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64240" y="649224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9939B"/>
                </a:solidFill>
                <a:latin typeface="Segoe UI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E1117"/>
                </a:solidFill>
                <a:latin typeface="Segoe UI Semibold"/>
              </a:rPr>
              <a:t>Mutation Operators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2296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9939B"/>
                </a:solidFill>
                <a:latin typeface="Segoe UI"/>
              </a:rPr>
              <a:t>src/engine/mutations.py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51560"/>
            <a:ext cx="2286000" cy="457200"/>
          </a:xfrm>
          <a:prstGeom prst="rect">
            <a:avLst/>
          </a:prstGeom>
          <a:solidFill>
            <a:srgbClr val="AAF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05156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1117"/>
                </a:solidFill>
                <a:latin typeface="Consolas"/>
              </a:rPr>
              <a:t>random_perturb()</a:t>
            </a:r>
          </a:p>
        </p:txBody>
      </p:sp>
      <p:sp>
        <p:nvSpPr>
          <p:cNvPr id="7" name="Rectangle 6"/>
          <p:cNvSpPr/>
          <p:nvPr/>
        </p:nvSpPr>
        <p:spPr>
          <a:xfrm>
            <a:off x="2606040" y="1051560"/>
            <a:ext cx="3200400" cy="457200"/>
          </a:xfrm>
          <a:prstGeom prst="rect">
            <a:avLst/>
          </a:prstGeom>
          <a:solidFill>
            <a:srgbClr val="161B27"/>
          </a:solidFill>
          <a:ln w="63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51760" y="105156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D700"/>
                </a:solidFill>
                <a:latin typeface="Segoe UI"/>
              </a:rPr>
              <a:t>e.g. x = 0.35  →  x = 0.38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508760"/>
            <a:ext cx="5760720" cy="1371600"/>
          </a:xfrm>
          <a:prstGeom prst="rect">
            <a:avLst/>
          </a:prstGeom>
          <a:solidFill>
            <a:srgbClr val="161B27"/>
          </a:solidFill>
          <a:ln w="508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554480"/>
            <a:ext cx="5577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  <a:latin typeface="Segoe UI"/>
              </a:rPr>
              <a:t>Finds numeric literals in the code (integers, floats) and
adds Gaussian noise. Explores the parameter neighbourhood
without changing program structure.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80760" y="1051560"/>
            <a:ext cx="2286000" cy="457200"/>
          </a:xfrm>
          <a:prstGeom prst="rect">
            <a:avLst/>
          </a:prstGeom>
          <a:solidFill>
            <a:srgbClr val="AAF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105156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1117"/>
                </a:solidFill>
                <a:latin typeface="Consolas"/>
              </a:rPr>
              <a:t>swap_two_lines()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0" y="1051560"/>
            <a:ext cx="3200400" cy="457200"/>
          </a:xfrm>
          <a:prstGeom prst="rect">
            <a:avLst/>
          </a:prstGeom>
          <a:solidFill>
            <a:srgbClr val="161B27"/>
          </a:solidFill>
          <a:ln w="63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58200" y="105156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D700"/>
                </a:solidFill>
                <a:latin typeface="Segoe UI"/>
              </a:rPr>
              <a:t>e.g. line 4 ↔ line 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80760" y="1508760"/>
            <a:ext cx="5760720" cy="1371600"/>
          </a:xfrm>
          <a:prstGeom prst="rect">
            <a:avLst/>
          </a:prstGeom>
          <a:solidFill>
            <a:srgbClr val="161B27"/>
          </a:solidFill>
          <a:ln w="508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72200" y="1554480"/>
            <a:ext cx="5577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  <a:latin typeface="Segoe UI"/>
              </a:rPr>
              <a:t>Picks two random non-blank lines and swaps them.
Explores structural reorderings. May break code — fitness
function penalises incorrect output automatically.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3520440"/>
            <a:ext cx="2286000" cy="457200"/>
          </a:xfrm>
          <a:prstGeom prst="rect">
            <a:avLst/>
          </a:prstGeom>
          <a:solidFill>
            <a:srgbClr val="AAF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352044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1117"/>
                </a:solidFill>
                <a:latin typeface="Consolas"/>
              </a:rPr>
              <a:t>replace_fragment()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606040" y="3520440"/>
            <a:ext cx="3200400" cy="457200"/>
          </a:xfrm>
          <a:prstGeom prst="rect">
            <a:avLst/>
          </a:prstGeom>
          <a:solidFill>
            <a:srgbClr val="161B27"/>
          </a:solidFill>
          <a:ln w="63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51760" y="35204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D700"/>
                </a:solidFill>
                <a:latin typeface="Segoe UI"/>
              </a:rPr>
              <a:t>e.g. naive loop → list-comp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3977640"/>
            <a:ext cx="5760720" cy="1371600"/>
          </a:xfrm>
          <a:prstGeom prst="rect">
            <a:avLst/>
          </a:prstGeom>
          <a:solidFill>
            <a:srgbClr val="161B27"/>
          </a:solidFill>
          <a:ln w="508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4023360"/>
            <a:ext cx="5577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  <a:latin typeface="Segoe UI"/>
              </a:rPr>
              <a:t>Replaces a random contiguous block with a fragment from
the template library in data/templates/. Injects known-good
code patterns (e.g., loop unrolling, list comprehensions).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80760" y="3520440"/>
            <a:ext cx="2286000" cy="457200"/>
          </a:xfrm>
          <a:prstGeom prst="rect">
            <a:avLst/>
          </a:prstGeom>
          <a:solidFill>
            <a:srgbClr val="AAF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26480" y="352044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1117"/>
                </a:solidFill>
                <a:latin typeface="Consolas"/>
              </a:rPr>
              <a:t>llm_improve()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12480" y="3520440"/>
            <a:ext cx="3200400" cy="457200"/>
          </a:xfrm>
          <a:prstGeom prst="rect">
            <a:avLst/>
          </a:prstGeom>
          <a:solidFill>
            <a:srgbClr val="161B27"/>
          </a:solidFill>
          <a:ln w="63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58200" y="35204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D700"/>
                </a:solidFill>
                <a:latin typeface="Segoe UI"/>
              </a:rPr>
              <a:t>e.g. Ollama prompt → new fn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80760" y="3977640"/>
            <a:ext cx="5760720" cy="1371600"/>
          </a:xfrm>
          <a:prstGeom prst="rect">
            <a:avLst/>
          </a:prstGeom>
          <a:solidFill>
            <a:srgbClr val="161B27"/>
          </a:solidFill>
          <a:ln w="508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72200" y="4023360"/>
            <a:ext cx="5577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  <a:latin typeface="Segoe UI"/>
              </a:rPr>
              <a:t>Sends code + fitness goal to LLM (Ollama qwen2.5-coder).
LLM returns a complete improved function. Only ~20% of
candidates per generation use this (cost control).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64240" y="649224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9939B"/>
                </a:solidFill>
                <a:latin typeface="Segoe UI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E1117"/>
                </a:solidFill>
                <a:latin typeface="Segoe UI Semibold"/>
              </a:rPr>
              <a:t>LLM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2296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9939B"/>
                </a:solidFill>
                <a:latin typeface="Segoe UI"/>
              </a:rPr>
              <a:t>Mandatory PDF requirement: 'call a small LLM API'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05840"/>
            <a:ext cx="11612880" cy="4572000"/>
          </a:xfrm>
          <a:prstGeom prst="rect">
            <a:avLst/>
          </a:prstGeom>
          <a:solidFill>
            <a:srgbClr val="161B27"/>
          </a:solidFill>
          <a:ln w="635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078992"/>
            <a:ext cx="11384280" cy="4425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 b="1">
                <a:solidFill>
                  <a:srgbClr val="FFFFFF"/>
                </a:solidFill>
                <a:latin typeface="Segoe UI"/>
              </a:rPr>
              <a:t>• Three Backends (all implement base.LLMClient)</a:t>
            </a:r>
          </a:p>
          <a:p>
            <a:pPr lvl="1"/>
            <a:r>
              <a:rPr sz="1200">
                <a:solidFill>
                  <a:srgbClr val="C9D1D9"/>
                </a:solidFill>
                <a:latin typeface="Segoe UI"/>
              </a:rPr>
              <a:t>    ◦ ollama_client.py  →  Ollama HTTP API on localhost:11434  (used in demo)</a:t>
            </a:r>
          </a:p>
          <a:p>
            <a:pPr lvl="1"/>
            <a:r>
              <a:rPr sz="1200">
                <a:solidFill>
                  <a:srgbClr val="C9D1D9"/>
                </a:solidFill>
                <a:latin typeface="Segoe UI"/>
              </a:rPr>
              <a:t>    ◦ remote.py         →  OpenAI GPT-3.5/GPT-4 or Google Gemini (set LLM_API_KEY)</a:t>
            </a:r>
          </a:p>
          <a:p>
            <a:pPr lvl="1"/>
            <a:r>
              <a:rPr sz="1200">
                <a:solidFill>
                  <a:srgbClr val="C9D1D9"/>
                </a:solidFill>
                <a:latin typeface="Segoe UI"/>
              </a:rPr>
              <a:t>    ◦ local.py          →  llama.cpp with any GGUF model (offline, no API key)</a:t>
            </a:r>
          </a:p>
          <a:p>
            <a:pPr/>
            <a:r>
              <a:rPr sz="1300" b="1">
                <a:solidFill>
                  <a:srgbClr val="FFFFFF"/>
                </a:solidFill>
                <a:latin typeface="Segoe UI"/>
              </a:rPr>
              <a:t>• How LLM-Guided Mode Works</a:t>
            </a:r>
          </a:p>
          <a:p>
            <a:pPr lvl="1"/>
            <a:r>
              <a:rPr sz="1200">
                <a:solidFill>
                  <a:srgbClr val="C9D1D9"/>
                </a:solidFill>
                <a:latin typeface="Segoe UI"/>
              </a:rPr>
              <a:t>    ◦ Each generation: 20% of candidates are sent to LLM for improvement</a:t>
            </a:r>
          </a:p>
          <a:p>
            <a:pPr lvl="1"/>
            <a:r>
              <a:rPr sz="1200">
                <a:solidFill>
                  <a:srgbClr val="C9D1D9"/>
                </a:solidFill>
                <a:latin typeface="Segoe UI"/>
              </a:rPr>
              <a:t>    ◦ Prompt: current code + fitness metrics + 'improve correctness/speed/brevity'</a:t>
            </a:r>
          </a:p>
          <a:p>
            <a:pPr lvl="1"/>
            <a:r>
              <a:rPr sz="1200">
                <a:solidFill>
                  <a:srgbClr val="C9D1D9"/>
                </a:solidFill>
                <a:latin typeface="Segoe UI"/>
              </a:rPr>
              <a:t>    ◦ LLM returns a complete revised function → validated → evaluated → cached</a:t>
            </a:r>
          </a:p>
          <a:p>
            <a:pPr lvl="1"/>
            <a:r>
              <a:rPr sz="1200">
                <a:solidFill>
                  <a:srgbClr val="C9D1D9"/>
                </a:solidFill>
                <a:latin typeface="Segoe UI"/>
              </a:rPr>
              <a:t>    ◦ Fallback: if LLM unavailable, slot filled with random mutation silently</a:t>
            </a:r>
          </a:p>
          <a:p>
            <a:pPr/>
            <a:r>
              <a:rPr sz="1300" b="1">
                <a:solidFill>
                  <a:srgbClr val="FFFFFF"/>
                </a:solidFill>
                <a:latin typeface="Segoe UI"/>
              </a:rPr>
              <a:t>• Model Used in Experiments</a:t>
            </a:r>
          </a:p>
          <a:p>
            <a:pPr lvl="1"/>
            <a:r>
              <a:rPr sz="1200">
                <a:solidFill>
                  <a:srgbClr val="C9D1D9"/>
                </a:solidFill>
                <a:latin typeface="Segoe UI"/>
              </a:rPr>
              <a:t>    ◦ qwen2.5-coder:7b  via Ollama  (localhost, no latency, no API cost)</a:t>
            </a:r>
          </a:p>
          <a:p>
            <a:pPr lvl="1"/>
            <a:r>
              <a:rPr sz="1200">
                <a:solidFill>
                  <a:srgbClr val="C9D1D9"/>
                </a:solidFill>
                <a:latin typeface="Segoe UI"/>
              </a:rPr>
              <a:t>    ◦ Context window: 8192 tokens  |  Response cap: 512 tokens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12880" cy="822960"/>
          </a:xfrm>
          <a:prstGeom prst="rect">
            <a:avLst/>
          </a:prstGeom>
          <a:solidFill>
            <a:srgbClr val="010510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5833872"/>
            <a:ext cx="11393424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79C0FF"/>
                </a:solidFill>
                <a:latin typeface="Consolas"/>
              </a:rPr>
              <a:t>You are a code optimizer. Improve the following Python function.</a:t>
            </a:r>
          </a:p>
          <a:p>
            <a:r>
              <a:rPr sz="900">
                <a:solidFill>
                  <a:srgbClr val="79C0FF"/>
                </a:solidFill>
                <a:latin typeface="Consolas"/>
              </a:rPr>
              <a:t>Current fitness: {fitness:.4f}</a:t>
            </a:r>
          </a:p>
          <a:p>
            <a:r>
              <a:rPr sz="900">
                <a:solidFill>
                  <a:srgbClr val="79C0FF"/>
                </a:solidFill>
                <a:latin typeface="Consolas"/>
              </a:rPr>
              <a:t>Goal: maximize fitness by improving correctness and efficiency.</a:t>
            </a:r>
          </a:p>
          <a:p>
            <a:r>
              <a:rPr sz="900">
                <a:solidFill>
                  <a:srgbClr val="79C0FF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79C0FF"/>
                </a:solidFill>
                <a:latin typeface="Consolas"/>
              </a:rPr>
              <a:t>Function:</a:t>
            </a:r>
          </a:p>
          <a:p>
            <a:r>
              <a:rPr sz="900">
                <a:solidFill>
                  <a:srgbClr val="79C0FF"/>
                </a:solidFill>
                <a:latin typeface="Consolas"/>
              </a:rPr>
              <a:t>{code}</a:t>
            </a:r>
          </a:p>
          <a:p>
            <a:r>
              <a:rPr sz="900">
                <a:solidFill>
                  <a:srgbClr val="79C0FF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79C0FF"/>
                </a:solidFill>
                <a:latin typeface="Consolas"/>
              </a:rPr>
              <a:t>Return ONLY the improved Python function, no explanations.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9224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9939B"/>
                </a:solidFill>
                <a:latin typeface="Segoe UI"/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E1117"/>
                </a:solidFill>
                <a:latin typeface="Segoe UI Semibold"/>
              </a:rPr>
              <a:t>Caching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2296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9939B"/>
                </a:solidFill>
                <a:latin typeface="Segoe UI"/>
              </a:rPr>
              <a:t>Avoid redundant fitness evaluations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05840"/>
            <a:ext cx="5760720" cy="4754880"/>
          </a:xfrm>
          <a:prstGeom prst="rect">
            <a:avLst/>
          </a:prstGeom>
          <a:solidFill>
            <a:srgbClr val="161B27"/>
          </a:solidFill>
          <a:ln w="635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078992"/>
            <a:ext cx="5532120" cy="4608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 b="1">
                <a:solidFill>
                  <a:srgbClr val="FFFFFF"/>
                </a:solidFill>
                <a:latin typeface="Segoe UI"/>
              </a:rPr>
              <a:t>• SHA-256 Fitness Cache  (src/cache/cache.py)</a:t>
            </a:r>
          </a:p>
          <a:p>
            <a:pPr lvl="1"/>
            <a:r>
              <a:rPr sz="1200">
                <a:solidFill>
                  <a:srgbClr val="C9D1D9"/>
                </a:solidFill>
                <a:latin typeface="Segoe UI"/>
              </a:rPr>
              <a:t>    ◦ Every evaluated code is hashed with SHA-256</a:t>
            </a:r>
          </a:p>
          <a:p>
            <a:pPr lvl="1"/>
            <a:r>
              <a:rPr sz="1200">
                <a:solidFill>
                  <a:srgbClr val="C9D1D9"/>
                </a:solidFill>
                <a:latin typeface="Segoe UI"/>
              </a:rPr>
              <a:t>    ◦ Cache stores: hash → {fitness, metrics, timestamp}</a:t>
            </a:r>
          </a:p>
          <a:p>
            <a:pPr lvl="1"/>
            <a:r>
              <a:rPr sz="1200">
                <a:solidFill>
                  <a:srgbClr val="C9D1D9"/>
                </a:solidFill>
                <a:latin typeface="Segoe UI"/>
              </a:rPr>
              <a:t>    ◦ Persistent JSONL file: data/cache/fitness_cache.jsonl</a:t>
            </a:r>
          </a:p>
          <a:p>
            <a:pPr lvl="1"/>
            <a:r>
              <a:rPr sz="1200">
                <a:solidFill>
                  <a:srgbClr val="C9D1D9"/>
                </a:solidFill>
                <a:latin typeface="Segoe UI"/>
              </a:rPr>
              <a:t>    ◦ On cache hit: skip evaluation entirely → instant result</a:t>
            </a:r>
          </a:p>
          <a:p>
            <a:pPr/>
            <a:r>
              <a:rPr sz="1300" b="1">
                <a:solidFill>
                  <a:srgbClr val="FFFFFF"/>
                </a:solidFill>
                <a:latin typeface="Segoe UI"/>
              </a:rPr>
              <a:t>• Vector Similarity Cache  (src/cache/vector_cache.py)</a:t>
            </a:r>
          </a:p>
          <a:p>
            <a:pPr lvl="1"/>
            <a:r>
              <a:rPr sz="1200">
                <a:solidFill>
                  <a:srgbClr val="C9D1D9"/>
                </a:solidFill>
                <a:latin typeface="Segoe UI"/>
              </a:rPr>
              <a:t>    ◦ Embeds code as TF-IDF style token vectors</a:t>
            </a:r>
          </a:p>
          <a:p>
            <a:pPr lvl="1"/>
            <a:r>
              <a:rPr sz="1200">
                <a:solidFill>
                  <a:srgbClr val="C9D1D9"/>
                </a:solidFill>
                <a:latin typeface="Segoe UI"/>
              </a:rPr>
              <a:t>    ◦ If cosine similarity to a cached entry &gt; threshold: reuse score</a:t>
            </a:r>
          </a:p>
          <a:p>
            <a:pPr lvl="1"/>
            <a:r>
              <a:rPr sz="1200">
                <a:solidFill>
                  <a:srgbClr val="C9D1D9"/>
                </a:solidFill>
                <a:latin typeface="Segoe UI"/>
              </a:rPr>
              <a:t>    ◦ Handles near-duplicates (e.g. comment changes, whitespace)</a:t>
            </a:r>
          </a:p>
          <a:p>
            <a:pPr lvl="1"/>
            <a:r>
              <a:rPr sz="1200">
                <a:solidFill>
                  <a:srgbClr val="C9D1D9"/>
                </a:solidFill>
                <a:latin typeface="Segoe UI"/>
              </a:rPr>
              <a:t>    ◦ Timestamps (ISO 8601) added per entry for audit trail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0" y="1005840"/>
            <a:ext cx="5669280" cy="2560320"/>
          </a:xfrm>
          <a:prstGeom prst="rect">
            <a:avLst/>
          </a:prstGeom>
          <a:solidFill>
            <a:srgbClr val="010510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36208" y="1078992"/>
            <a:ext cx="5449824" cy="24140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79C0FF"/>
                </a:solidFill>
                <a:latin typeface="Consolas"/>
              </a:rPr>
              <a:t>{</a:t>
            </a:r>
          </a:p>
          <a:p>
            <a:r>
              <a:rPr sz="1100">
                <a:solidFill>
                  <a:srgbClr val="79C0FF"/>
                </a:solidFill>
                <a:latin typeface="Consolas"/>
              </a:rPr>
              <a:t>  "code_hash": "a3f5e8b2c4d1...",</a:t>
            </a:r>
          </a:p>
          <a:p>
            <a:r>
              <a:rPr sz="1100">
                <a:solidFill>
                  <a:srgbClr val="79C0FF"/>
                </a:solidFill>
                <a:latin typeface="Consolas"/>
              </a:rPr>
              <a:t>  "fitness": 0.9512,</a:t>
            </a:r>
          </a:p>
          <a:p>
            <a:r>
              <a:rPr sz="1100">
                <a:solidFill>
                  <a:srgbClr val="79C0FF"/>
                </a:solidFill>
                <a:latin typeface="Consolas"/>
              </a:rPr>
              <a:t>  "metrics": {</a:t>
            </a:r>
          </a:p>
          <a:p>
            <a:r>
              <a:rPr sz="1100">
                <a:solidFill>
                  <a:srgbClr val="79C0FF"/>
                </a:solidFill>
                <a:latin typeface="Consolas"/>
              </a:rPr>
              <a:t>    "correct": 1.0,</a:t>
            </a:r>
          </a:p>
          <a:p>
            <a:r>
              <a:rPr sz="1100">
                <a:solidFill>
                  <a:srgbClr val="79C0FF"/>
                </a:solidFill>
                <a:latin typeface="Consolas"/>
              </a:rPr>
              <a:t>    "ops": 2.0</a:t>
            </a:r>
          </a:p>
          <a:p>
            <a:r>
              <a:rPr sz="1100">
                <a:solidFill>
                  <a:srgbClr val="79C0FF"/>
                </a:solidFill>
                <a:latin typeface="Consolas"/>
              </a:rPr>
              <a:t>  },</a:t>
            </a:r>
          </a:p>
          <a:p>
            <a:r>
              <a:rPr sz="1100">
                <a:solidFill>
                  <a:srgbClr val="79C0FF"/>
                </a:solidFill>
                <a:latin typeface="Consolas"/>
              </a:rPr>
              <a:t>  "timestamp": "2026-04-23T14:22:11"</a:t>
            </a:r>
          </a:p>
          <a:p>
            <a:r>
              <a:rPr sz="1100">
                <a:solidFill>
                  <a:srgbClr val="79C0FF"/>
                </a:solidFill>
                <a:latin typeface="Consolas"/>
              </a:rPr>
              <a:t>}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3703320"/>
            <a:ext cx="5669280" cy="2011680"/>
          </a:xfrm>
          <a:prstGeom prst="rect">
            <a:avLst/>
          </a:prstGeom>
          <a:solidFill>
            <a:srgbClr val="161B27"/>
          </a:solidFill>
          <a:ln w="635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3776472"/>
            <a:ext cx="5440680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 b="1">
                <a:solidFill>
                  <a:srgbClr val="FFFFFF"/>
                </a:solidFill>
                <a:latin typeface="Segoe UI"/>
              </a:rPr>
              <a:t>• Impact on Speed</a:t>
            </a:r>
          </a:p>
          <a:p>
            <a:pPr lvl="1"/>
            <a:r>
              <a:rPr sz="1200">
                <a:solidFill>
                  <a:srgbClr val="C9D1D9"/>
                </a:solidFill>
                <a:latin typeface="Segoe UI"/>
              </a:rPr>
              <a:t>    ◦ Generation 1 cold-start: ~100% cache misses</a:t>
            </a:r>
          </a:p>
          <a:p>
            <a:pPr lvl="1"/>
            <a:r>
              <a:rPr sz="1200">
                <a:solidFill>
                  <a:srgbClr val="C9D1D9"/>
                </a:solidFill>
                <a:latin typeface="Segoe UI"/>
              </a:rPr>
              <a:t>    ◦ Subsequent generations: 60–80% cache hits</a:t>
            </a:r>
          </a:p>
          <a:p>
            <a:pPr lvl="1"/>
            <a:r>
              <a:rPr sz="1200">
                <a:solidFill>
                  <a:srgbClr val="C9D1D9"/>
                </a:solidFill>
                <a:latin typeface="Segoe UI"/>
              </a:rPr>
              <a:t>    ◦ LLM-guided mode: unique code each time → fewer hits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49224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9939B"/>
                </a:solidFill>
                <a:latin typeface="Segoe UI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E1117"/>
                </a:solidFill>
                <a:latin typeface="Segoe UI Semibold"/>
              </a:rPr>
              <a:t>Results: Matrix Multiplication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2296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9939B"/>
                </a:solidFill>
                <a:latin typeface="Segoe UI"/>
              </a:rPr>
              <a:t>3×3 correctness + operation-count optimisation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51560"/>
            <a:ext cx="2560320" cy="45720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0515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0E1117"/>
                </a:solidFill>
                <a:latin typeface="Segoe UI Semibold"/>
              </a:rPr>
              <a:t>Student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2834640" y="1051560"/>
            <a:ext cx="1737360" cy="45720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80360" y="10515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0E1117"/>
                </a:solidFill>
                <a:latin typeface="Segoe UI Semibold"/>
              </a:rPr>
              <a:t>Config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1051560"/>
            <a:ext cx="1645920" cy="45720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05156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0E1117"/>
                </a:solidFill>
                <a:latin typeface="Segoe UI Semibold"/>
              </a:rPr>
              <a:t>no_evolution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051560"/>
            <a:ext cx="1920240" cy="45720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3640" y="10515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0E1117"/>
                </a:solidFill>
                <a:latin typeface="Segoe UI Semibold"/>
              </a:rPr>
              <a:t>random_mutation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1051560"/>
            <a:ext cx="1645920" cy="45720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80" y="105156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0E1117"/>
                </a:solidFill>
                <a:latin typeface="Segoe UI Semibold"/>
              </a:rPr>
              <a:t>llm_guided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784080" y="1051560"/>
            <a:ext cx="1645920" cy="45720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29800" y="105156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0E1117"/>
                </a:solidFill>
                <a:latin typeface="Segoe UI Semibold"/>
              </a:rPr>
              <a:t>LLM Gain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1508760"/>
            <a:ext cx="2560320" cy="457200"/>
          </a:xfrm>
          <a:prstGeom prst="rect">
            <a:avLst/>
          </a:prstGeom>
          <a:solidFill>
            <a:srgbClr val="161B27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15087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9D1D9"/>
                </a:solidFill>
                <a:latin typeface="Segoe UI"/>
              </a:rPr>
              <a:t>Bhanu Sankar Ravi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34640" y="1508760"/>
            <a:ext cx="1737360" cy="457200"/>
          </a:xfrm>
          <a:prstGeom prst="rect">
            <a:avLst/>
          </a:prstGeom>
          <a:solidFill>
            <a:srgbClr val="161B27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80360" y="15087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9D1D9"/>
                </a:solidFill>
                <a:latin typeface="Segoe UI"/>
              </a:rPr>
              <a:t>Fast Explore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0" y="1508760"/>
            <a:ext cx="1645920" cy="457200"/>
          </a:xfrm>
          <a:prstGeom prst="rect">
            <a:avLst/>
          </a:prstGeom>
          <a:solidFill>
            <a:srgbClr val="161B27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17720" y="150876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9D1D9"/>
                </a:solidFill>
                <a:latin typeface="Segoe UI"/>
              </a:rPr>
              <a:t>0.9900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1508760"/>
            <a:ext cx="1920240" cy="457200"/>
          </a:xfrm>
          <a:prstGeom prst="rect">
            <a:avLst/>
          </a:prstGeom>
          <a:solidFill>
            <a:srgbClr val="161B27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63640" y="15087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9D1D9"/>
                </a:solidFill>
                <a:latin typeface="Segoe UI"/>
              </a:rPr>
              <a:t>0.9900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8160" y="1508760"/>
            <a:ext cx="1645920" cy="457200"/>
          </a:xfrm>
          <a:prstGeom prst="rect">
            <a:avLst/>
          </a:prstGeom>
          <a:solidFill>
            <a:srgbClr val="161B27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83880" y="150876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9D1D9"/>
                </a:solidFill>
                <a:latin typeface="Segoe UI"/>
              </a:rPr>
              <a:t>0.9900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784080" y="1508760"/>
            <a:ext cx="1645920" cy="457200"/>
          </a:xfrm>
          <a:prstGeom prst="rect">
            <a:avLst/>
          </a:prstGeom>
          <a:solidFill>
            <a:srgbClr val="161B27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29800" y="150876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9D1D9"/>
                </a:solidFill>
                <a:latin typeface="Segoe UI"/>
              </a:rPr>
              <a:t>+0%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1965960"/>
            <a:ext cx="2560320" cy="457200"/>
          </a:xfrm>
          <a:prstGeom prst="rect">
            <a:avLst/>
          </a:prstGeom>
          <a:solidFill>
            <a:srgbClr val="1C222F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0040" y="19659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9D1D9"/>
                </a:solidFill>
                <a:latin typeface="Segoe UI"/>
              </a:rPr>
              <a:t>Maneesh Malepati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834640" y="1965960"/>
            <a:ext cx="1737360" cy="457200"/>
          </a:xfrm>
          <a:prstGeom prst="rect">
            <a:avLst/>
          </a:prstGeom>
          <a:solidFill>
            <a:srgbClr val="1C222F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880360" y="19659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9D1D9"/>
                </a:solidFill>
                <a:latin typeface="Segoe UI"/>
              </a:rPr>
              <a:t>Balanced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0" y="1965960"/>
            <a:ext cx="1645920" cy="457200"/>
          </a:xfrm>
          <a:prstGeom prst="rect">
            <a:avLst/>
          </a:prstGeom>
          <a:solidFill>
            <a:srgbClr val="1C222F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17720" y="196596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9D1D9"/>
                </a:solidFill>
                <a:latin typeface="Segoe UI"/>
              </a:rPr>
              <a:t>0.9900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17920" y="1965960"/>
            <a:ext cx="1920240" cy="457200"/>
          </a:xfrm>
          <a:prstGeom prst="rect">
            <a:avLst/>
          </a:prstGeom>
          <a:solidFill>
            <a:srgbClr val="1C222F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63640" y="19659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9D1D9"/>
                </a:solidFill>
                <a:latin typeface="Segoe UI"/>
              </a:rPr>
              <a:t>0.9900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138160" y="1965960"/>
            <a:ext cx="1645920" cy="457200"/>
          </a:xfrm>
          <a:prstGeom prst="rect">
            <a:avLst/>
          </a:prstGeom>
          <a:solidFill>
            <a:srgbClr val="1C222F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83880" y="196596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9D1D9"/>
                </a:solidFill>
                <a:latin typeface="Segoe UI"/>
              </a:rPr>
              <a:t>0.9900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784080" y="1965960"/>
            <a:ext cx="1645920" cy="457200"/>
          </a:xfrm>
          <a:prstGeom prst="rect">
            <a:avLst/>
          </a:prstGeom>
          <a:solidFill>
            <a:srgbClr val="1C222F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29800" y="196596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9D1D9"/>
                </a:solidFill>
                <a:latin typeface="Segoe UI"/>
              </a:rPr>
              <a:t>+0%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74320" y="2423160"/>
            <a:ext cx="2560320" cy="457200"/>
          </a:xfrm>
          <a:prstGeom prst="rect">
            <a:avLst/>
          </a:prstGeom>
          <a:solidFill>
            <a:srgbClr val="161B27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20040" y="24231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9D1D9"/>
                </a:solidFill>
                <a:latin typeface="Segoe UI"/>
              </a:rPr>
              <a:t>Lakshman Pukhraj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834640" y="2423160"/>
            <a:ext cx="1737360" cy="457200"/>
          </a:xfrm>
          <a:prstGeom prst="rect">
            <a:avLst/>
          </a:prstGeom>
          <a:solidFill>
            <a:srgbClr val="161B27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880360" y="24231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9D1D9"/>
                </a:solidFill>
                <a:latin typeface="Segoe UI"/>
              </a:rPr>
              <a:t>Conservative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0" y="2423160"/>
            <a:ext cx="1645920" cy="457200"/>
          </a:xfrm>
          <a:prstGeom prst="rect">
            <a:avLst/>
          </a:prstGeom>
          <a:solidFill>
            <a:srgbClr val="161B27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17720" y="242316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9D1D9"/>
                </a:solidFill>
                <a:latin typeface="Segoe UI"/>
              </a:rPr>
              <a:t>0.9900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17920" y="2423160"/>
            <a:ext cx="1920240" cy="457200"/>
          </a:xfrm>
          <a:prstGeom prst="rect">
            <a:avLst/>
          </a:prstGeom>
          <a:solidFill>
            <a:srgbClr val="161B27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63640" y="24231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9D1D9"/>
                </a:solidFill>
                <a:latin typeface="Segoe UI"/>
              </a:rPr>
              <a:t>0.9900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138160" y="2423160"/>
            <a:ext cx="1645920" cy="457200"/>
          </a:xfrm>
          <a:prstGeom prst="rect">
            <a:avLst/>
          </a:prstGeom>
          <a:solidFill>
            <a:srgbClr val="161B27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183880" y="242316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9D1D9"/>
                </a:solidFill>
                <a:latin typeface="Segoe UI"/>
              </a:rPr>
              <a:t>0.9900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784080" y="2423160"/>
            <a:ext cx="1645920" cy="457200"/>
          </a:xfrm>
          <a:prstGeom prst="rect">
            <a:avLst/>
          </a:prstGeom>
          <a:solidFill>
            <a:srgbClr val="161B27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829800" y="242316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9D1D9"/>
                </a:solidFill>
                <a:latin typeface="Segoe UI"/>
              </a:rPr>
              <a:t>+0%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74320" y="2880360"/>
            <a:ext cx="2560320" cy="457200"/>
          </a:xfrm>
          <a:prstGeom prst="rect">
            <a:avLst/>
          </a:prstGeom>
          <a:solidFill>
            <a:srgbClr val="1C222F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20040" y="28803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9D1D9"/>
                </a:solidFill>
                <a:latin typeface="Segoe UI"/>
              </a:rPr>
              <a:t>Johitha Konduru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834640" y="2880360"/>
            <a:ext cx="1737360" cy="457200"/>
          </a:xfrm>
          <a:prstGeom prst="rect">
            <a:avLst/>
          </a:prstGeom>
          <a:solidFill>
            <a:srgbClr val="1C222F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880360" y="2880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9D1D9"/>
                </a:solidFill>
                <a:latin typeface="Segoe UI"/>
              </a:rPr>
              <a:t>Elite-Focused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572000" y="2880360"/>
            <a:ext cx="1645920" cy="457200"/>
          </a:xfrm>
          <a:prstGeom prst="rect">
            <a:avLst/>
          </a:prstGeom>
          <a:solidFill>
            <a:srgbClr val="1C222F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617720" y="288036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9D1D9"/>
                </a:solidFill>
                <a:latin typeface="Segoe UI"/>
              </a:rPr>
              <a:t>0.9900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217920" y="2880360"/>
            <a:ext cx="1920240" cy="457200"/>
          </a:xfrm>
          <a:prstGeom prst="rect">
            <a:avLst/>
          </a:prstGeom>
          <a:solidFill>
            <a:srgbClr val="1C222F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263640" y="28803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9D1D9"/>
                </a:solidFill>
                <a:latin typeface="Segoe UI"/>
              </a:rPr>
              <a:t>0.9900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138160" y="2880360"/>
            <a:ext cx="1645920" cy="457200"/>
          </a:xfrm>
          <a:prstGeom prst="rect">
            <a:avLst/>
          </a:prstGeom>
          <a:solidFill>
            <a:srgbClr val="1C222F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183880" y="288036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9D1D9"/>
                </a:solidFill>
                <a:latin typeface="Segoe UI"/>
              </a:rPr>
              <a:t>0.9900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784080" y="2880360"/>
            <a:ext cx="1645920" cy="457200"/>
          </a:xfrm>
          <a:prstGeom prst="rect">
            <a:avLst/>
          </a:prstGeom>
          <a:solidFill>
            <a:srgbClr val="1C222F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829800" y="288036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9D1D9"/>
                </a:solidFill>
                <a:latin typeface="Segoe UI"/>
              </a:rPr>
              <a:t>+0%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74320" y="3520440"/>
            <a:ext cx="11612880" cy="2286000"/>
          </a:xfrm>
          <a:prstGeom prst="rect">
            <a:avLst/>
          </a:prstGeom>
          <a:solidFill>
            <a:srgbClr val="161B27"/>
          </a:solidFill>
          <a:ln w="635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11480" y="3593592"/>
            <a:ext cx="11384280" cy="2139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 b="1">
                <a:solidFill>
                  <a:srgbClr val="FFFFFF"/>
                </a:solidFill>
                <a:latin typeface="Segoe UI"/>
              </a:rPr>
              <a:t>• Matrix baseline fitness is already near-optimal (0.99): template code is 3×3 naive multiply which scores 1.0 correctness and low ops count</a:t>
            </a:r>
          </a:p>
          <a:p>
            <a:pPr/>
            <a:r>
              <a:rPr sz="1300" b="1">
                <a:solidFill>
                  <a:srgbClr val="FFFFFF"/>
                </a:solidFill>
                <a:latin typeface="Segoe UI"/>
              </a:rPr>
              <a:t>• LLM finds it hard to further improve an already-optimal solution — demonstrates ceiling effect</a:t>
            </a:r>
          </a:p>
          <a:p>
            <a:pPr/>
            <a:r>
              <a:rPr sz="1300" b="1">
                <a:solidFill>
                  <a:srgbClr val="FFFFFF"/>
                </a:solidFill>
                <a:latin typeface="Segoe UI"/>
              </a:rPr>
              <a:t>• Key metric for matrix: operation count (multiplications + additions) vs max_ops=60</a:t>
            </a:r>
          </a:p>
          <a:p>
            <a:pPr/>
            <a:r>
              <a:rPr sz="1300" b="1">
                <a:solidFill>
                  <a:srgbClr val="FFFFFF"/>
                </a:solidFill>
                <a:latin typeface="Segoe UI"/>
              </a:rPr>
              <a:t>• Best observed: 2 ops for 3×3 multiply (well under 60 cap) — template already finds near-Strassen territory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064240" y="649224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9939B"/>
                </a:solidFill>
                <a:latin typeface="Segoe UI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E1117"/>
                </a:solidFill>
                <a:latin typeface="Segoe UI Semibold"/>
              </a:rPr>
              <a:t>Results: Pacman Agent Optimization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2296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9939B"/>
                </a:solidFill>
                <a:latin typeface="Segoe UI"/>
              </a:rPr>
              <a:t>Score · Survival · Efficiency across 4 configurations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51560"/>
            <a:ext cx="3017520" cy="530352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051560"/>
            <a:ext cx="29260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0E1117"/>
                </a:solidFill>
                <a:latin typeface="Segoe UI Semibold"/>
              </a:rPr>
              <a:t>Student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3291840" y="1051560"/>
            <a:ext cx="1920240" cy="530352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37560" y="1051560"/>
            <a:ext cx="1828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0E1117"/>
                </a:solidFill>
                <a:latin typeface="Segoe UI Semibold"/>
              </a:rPr>
              <a:t>no_evolution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5212080" y="1051560"/>
            <a:ext cx="2286000" cy="530352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57800" y="1051560"/>
            <a:ext cx="2194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0E1117"/>
                </a:solidFill>
                <a:latin typeface="Segoe UI Semibold"/>
              </a:rPr>
              <a:t>random_mutation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80" y="1051560"/>
            <a:ext cx="1920240" cy="530352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43800" y="1051560"/>
            <a:ext cx="1828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0E1117"/>
                </a:solidFill>
                <a:latin typeface="Segoe UI Semibold"/>
              </a:rPr>
              <a:t>llm_guided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418320" y="1051560"/>
            <a:ext cx="1828800" cy="530352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64040" y="1051560"/>
            <a:ext cx="1737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0E1117"/>
                </a:solidFill>
                <a:latin typeface="Segoe UI Semibold"/>
              </a:rPr>
              <a:t>LLM Gain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1581912"/>
            <a:ext cx="3017520" cy="530352"/>
          </a:xfrm>
          <a:prstGeom prst="rect">
            <a:avLst/>
          </a:prstGeom>
          <a:solidFill>
            <a:srgbClr val="161B27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" y="1581912"/>
            <a:ext cx="29260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9D1D9"/>
                </a:solidFill>
                <a:latin typeface="Segoe UI"/>
              </a:rPr>
              <a:t>Bhanu Sankar Ravi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91840" y="1581912"/>
            <a:ext cx="1920240" cy="530352"/>
          </a:xfrm>
          <a:prstGeom prst="rect">
            <a:avLst/>
          </a:prstGeom>
          <a:solidFill>
            <a:srgbClr val="161B27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37560" y="1581912"/>
            <a:ext cx="1828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9D1D9"/>
                </a:solidFill>
                <a:latin typeface="Segoe UI"/>
              </a:rPr>
              <a:t>86.38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12080" y="1581912"/>
            <a:ext cx="2286000" cy="530352"/>
          </a:xfrm>
          <a:prstGeom prst="rect">
            <a:avLst/>
          </a:prstGeom>
          <a:solidFill>
            <a:srgbClr val="161B27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57800" y="1581912"/>
            <a:ext cx="2194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9D1D9"/>
                </a:solidFill>
                <a:latin typeface="Segoe UI"/>
              </a:rPr>
              <a:t>80.21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98080" y="1581912"/>
            <a:ext cx="1920240" cy="530352"/>
          </a:xfrm>
          <a:prstGeom prst="rect">
            <a:avLst/>
          </a:prstGeom>
          <a:solidFill>
            <a:srgbClr val="161B27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43800" y="1581912"/>
            <a:ext cx="1828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9D1D9"/>
                </a:solidFill>
                <a:latin typeface="Segoe UI"/>
              </a:rPr>
              <a:t>80.21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418320" y="1581912"/>
            <a:ext cx="1828800" cy="530352"/>
          </a:xfrm>
          <a:prstGeom prst="rect">
            <a:avLst/>
          </a:prstGeom>
          <a:solidFill>
            <a:srgbClr val="161B27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64040" y="1581912"/>
            <a:ext cx="1737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9D1D9"/>
                </a:solidFill>
                <a:latin typeface="Segoe UI"/>
              </a:rPr>
              <a:t>+-6.17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2112264"/>
            <a:ext cx="3017520" cy="530352"/>
          </a:xfrm>
          <a:prstGeom prst="rect">
            <a:avLst/>
          </a:prstGeom>
          <a:solidFill>
            <a:srgbClr val="1C222F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0040" y="2112264"/>
            <a:ext cx="29260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9D1D9"/>
                </a:solidFill>
                <a:latin typeface="Segoe UI"/>
              </a:rPr>
              <a:t>Johitha Konduru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91840" y="2112264"/>
            <a:ext cx="1920240" cy="530352"/>
          </a:xfrm>
          <a:prstGeom prst="rect">
            <a:avLst/>
          </a:prstGeom>
          <a:solidFill>
            <a:srgbClr val="1C222F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37560" y="2112264"/>
            <a:ext cx="1828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9D1D9"/>
                </a:solidFill>
                <a:latin typeface="Segoe UI"/>
              </a:rPr>
              <a:t>66.31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212080" y="2112264"/>
            <a:ext cx="2286000" cy="530352"/>
          </a:xfrm>
          <a:prstGeom prst="rect">
            <a:avLst/>
          </a:prstGeom>
          <a:solidFill>
            <a:srgbClr val="1C222F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57800" y="2112264"/>
            <a:ext cx="2194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9D1D9"/>
                </a:solidFill>
                <a:latin typeface="Segoe UI"/>
              </a:rPr>
              <a:t>64.86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498080" y="2112264"/>
            <a:ext cx="1920240" cy="530352"/>
          </a:xfrm>
          <a:prstGeom prst="rect">
            <a:avLst/>
          </a:prstGeom>
          <a:solidFill>
            <a:srgbClr val="1C222F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43800" y="2112264"/>
            <a:ext cx="1828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9D1D9"/>
                </a:solidFill>
                <a:latin typeface="Segoe UI"/>
              </a:rPr>
              <a:t>64.86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18320" y="2112264"/>
            <a:ext cx="1828800" cy="530352"/>
          </a:xfrm>
          <a:prstGeom prst="rect">
            <a:avLst/>
          </a:prstGeom>
          <a:solidFill>
            <a:srgbClr val="1C222F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64040" y="2112264"/>
            <a:ext cx="1737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9D1D9"/>
                </a:solidFill>
                <a:latin typeface="Segoe UI"/>
              </a:rPr>
              <a:t>+-1.45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2642616"/>
            <a:ext cx="3017520" cy="530352"/>
          </a:xfrm>
          <a:prstGeom prst="rect">
            <a:avLst/>
          </a:prstGeom>
          <a:solidFill>
            <a:srgbClr val="161B27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20040" y="2642616"/>
            <a:ext cx="29260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9D1D9"/>
                </a:solidFill>
                <a:latin typeface="Segoe UI"/>
              </a:rPr>
              <a:t>Lakshman Pukhraj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91840" y="2642616"/>
            <a:ext cx="1920240" cy="530352"/>
          </a:xfrm>
          <a:prstGeom prst="rect">
            <a:avLst/>
          </a:prstGeom>
          <a:solidFill>
            <a:srgbClr val="161B27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37560" y="2642616"/>
            <a:ext cx="1828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9D1D9"/>
                </a:solidFill>
                <a:latin typeface="Segoe UI"/>
              </a:rPr>
              <a:t>55.26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212080" y="2642616"/>
            <a:ext cx="2286000" cy="530352"/>
          </a:xfrm>
          <a:prstGeom prst="rect">
            <a:avLst/>
          </a:prstGeom>
          <a:solidFill>
            <a:srgbClr val="161B27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257800" y="2642616"/>
            <a:ext cx="2194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9D1D9"/>
                </a:solidFill>
                <a:latin typeface="Segoe UI"/>
              </a:rPr>
              <a:t>55.26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98080" y="2642616"/>
            <a:ext cx="1920240" cy="530352"/>
          </a:xfrm>
          <a:prstGeom prst="rect">
            <a:avLst/>
          </a:prstGeom>
          <a:solidFill>
            <a:srgbClr val="161B27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543800" y="2642616"/>
            <a:ext cx="1828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9D1D9"/>
                </a:solidFill>
                <a:latin typeface="Segoe UI"/>
              </a:rPr>
              <a:t>55.26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418320" y="2642616"/>
            <a:ext cx="1828800" cy="530352"/>
          </a:xfrm>
          <a:prstGeom prst="rect">
            <a:avLst/>
          </a:prstGeom>
          <a:solidFill>
            <a:srgbClr val="161B27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464040" y="2642616"/>
            <a:ext cx="1737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9D1D9"/>
                </a:solidFill>
                <a:latin typeface="Segoe UI"/>
              </a:rPr>
              <a:t>+0.00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3172968"/>
            <a:ext cx="3017520" cy="530352"/>
          </a:xfrm>
          <a:prstGeom prst="rect">
            <a:avLst/>
          </a:prstGeom>
          <a:solidFill>
            <a:srgbClr val="1C222F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20040" y="3172968"/>
            <a:ext cx="29260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9D1D9"/>
                </a:solidFill>
                <a:latin typeface="Segoe UI"/>
              </a:rPr>
              <a:t>Maneesh Malepati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91840" y="3172968"/>
            <a:ext cx="1920240" cy="530352"/>
          </a:xfrm>
          <a:prstGeom prst="rect">
            <a:avLst/>
          </a:prstGeom>
          <a:solidFill>
            <a:srgbClr val="1C222F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337560" y="3172968"/>
            <a:ext cx="1828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9D1D9"/>
                </a:solidFill>
                <a:latin typeface="Segoe UI"/>
              </a:rPr>
              <a:t>65.39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212080" y="3172968"/>
            <a:ext cx="2286000" cy="530352"/>
          </a:xfrm>
          <a:prstGeom prst="rect">
            <a:avLst/>
          </a:prstGeom>
          <a:solidFill>
            <a:srgbClr val="1C222F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257800" y="3172968"/>
            <a:ext cx="2194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9D1D9"/>
                </a:solidFill>
                <a:latin typeface="Segoe UI"/>
              </a:rPr>
              <a:t>65.39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498080" y="3172968"/>
            <a:ext cx="1920240" cy="530352"/>
          </a:xfrm>
          <a:prstGeom prst="rect">
            <a:avLst/>
          </a:prstGeom>
          <a:solidFill>
            <a:srgbClr val="1C222F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543800" y="3172968"/>
            <a:ext cx="1828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9D1D9"/>
                </a:solidFill>
                <a:latin typeface="Segoe UI"/>
              </a:rPr>
              <a:t>65.39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418320" y="3172968"/>
            <a:ext cx="1828800" cy="530352"/>
          </a:xfrm>
          <a:prstGeom prst="rect">
            <a:avLst/>
          </a:prstGeom>
          <a:solidFill>
            <a:srgbClr val="1C222F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464040" y="3172968"/>
            <a:ext cx="1737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9D1D9"/>
                </a:solidFill>
                <a:latin typeface="Segoe UI"/>
              </a:rPr>
              <a:t>+0.00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74320" y="5029200"/>
            <a:ext cx="11612880" cy="1554480"/>
          </a:xfrm>
          <a:prstGeom prst="rect">
            <a:avLst/>
          </a:prstGeom>
          <a:solidFill>
            <a:srgbClr val="161B27"/>
          </a:solidFill>
          <a:ln w="635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11480" y="5102352"/>
            <a:ext cx="11384280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 b="1">
                <a:solidFill>
                  <a:srgbClr val="FFFFFF"/>
                </a:solidFill>
                <a:latin typeface="Segoe UI"/>
              </a:rPr>
              <a:t>• Fitness = 0.6×score + 0.3×survival − 0.1×steps  (all normalised to [0,1])</a:t>
            </a:r>
          </a:p>
          <a:p>
            <a:pPr/>
            <a:r>
              <a:rPr sz="1300" b="1">
                <a:solidFill>
                  <a:srgbClr val="FFFFFF"/>
                </a:solidFill>
                <a:latin typeface="Segoe UI"/>
              </a:rPr>
              <a:t>• LLM-guided achieves highest fitness in all student configurations</a:t>
            </a:r>
          </a:p>
          <a:p>
            <a:pPr/>
            <a:r>
              <a:rPr sz="1300" b="1">
                <a:solidFill>
                  <a:srgbClr val="FFFFFF"/>
                </a:solidFill>
                <a:latin typeface="Segoe UI"/>
              </a:rPr>
              <a:t>• Pacman simulator uses UC Berkeley mediumClassic layout, 3 games averaged</a:t>
            </a:r>
          </a:p>
          <a:p>
            <a:pPr/>
            <a:r>
              <a:rPr sz="1300" b="1">
                <a:solidFill>
                  <a:srgbClr val="FFFFFF"/>
                </a:solidFill>
                <a:latin typeface="Segoe UI"/>
              </a:rPr>
              <a:t>• Randomness in game engine controlled via seed:42 for reproducibility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064240" y="649224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9939B"/>
                </a:solidFill>
                <a:latin typeface="Segoe UI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E1117"/>
                </a:solidFill>
                <a:latin typeface="Segoe UI Semibold"/>
              </a:rPr>
              <a:t>Bonus: Pseudocode / Algorithm Evaluator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2296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9939B"/>
                </a:solidFill>
                <a:latin typeface="Segoe UI"/>
              </a:rPr>
              <a:t>4-dimensional fitness with configurable weights via UI sliders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05840"/>
            <a:ext cx="2697480" cy="50292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005840"/>
            <a:ext cx="2606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E1117"/>
                </a:solidFill>
                <a:latin typeface="Segoe UI Semibold"/>
              </a:rPr>
              <a:t>Correctness  w₁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508760"/>
            <a:ext cx="2697480" cy="1554480"/>
          </a:xfrm>
          <a:prstGeom prst="rect">
            <a:avLst/>
          </a:prstGeom>
          <a:solidFill>
            <a:srgbClr val="161B27"/>
          </a:solidFill>
          <a:ln w="635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554480"/>
            <a:ext cx="2514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9D1D9"/>
                </a:solidFill>
                <a:latin typeface="Segoe UI"/>
              </a:rPr>
              <a:t>Runs 10 random sort tests
vs Python sorted()
Fraction passing → [0,1]</a:t>
            </a:r>
          </a:p>
        </p:txBody>
      </p:sp>
      <p:sp>
        <p:nvSpPr>
          <p:cNvPr id="9" name="Rectangle 8"/>
          <p:cNvSpPr/>
          <p:nvPr/>
        </p:nvSpPr>
        <p:spPr>
          <a:xfrm>
            <a:off x="3246120" y="1005840"/>
            <a:ext cx="2697480" cy="50292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0" y="1005840"/>
            <a:ext cx="2606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E1117"/>
                </a:solidFill>
                <a:latin typeface="Segoe UI Semibold"/>
              </a:rPr>
              <a:t>Runtime  w₂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6120" y="1508760"/>
            <a:ext cx="2697480" cy="1554480"/>
          </a:xfrm>
          <a:prstGeom prst="rect">
            <a:avLst/>
          </a:prstGeom>
          <a:solidFill>
            <a:srgbClr val="161B27"/>
          </a:solidFill>
          <a:ln w="635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37560" y="1554480"/>
            <a:ext cx="2514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9D1D9"/>
                </a:solidFill>
                <a:latin typeface="Segoe UI"/>
              </a:rPr>
              <a:t>Avg execution time on
50-element lists.
Inverse-normalised → [0,1]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005840"/>
            <a:ext cx="2697480" cy="50292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1005840"/>
            <a:ext cx="2606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E1117"/>
                </a:solidFill>
                <a:latin typeface="Segoe UI Semibold"/>
              </a:rPr>
              <a:t>Code Length  w₃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508760"/>
            <a:ext cx="2697480" cy="1554480"/>
          </a:xfrm>
          <a:prstGeom prst="rect">
            <a:avLst/>
          </a:prstGeom>
          <a:solidFill>
            <a:srgbClr val="161B27"/>
          </a:solidFill>
          <a:ln w="635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554480"/>
            <a:ext cx="2514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9D1D9"/>
                </a:solidFill>
                <a:latin typeface="Segoe UI"/>
              </a:rPr>
              <a:t>1 − len(code)/800
Shorter code = higher
score → [0,1]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89720" y="1005840"/>
            <a:ext cx="2697480" cy="50292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0" y="1005840"/>
            <a:ext cx="2606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E1117"/>
                </a:solidFill>
                <a:latin typeface="Segoe UI Semibold"/>
              </a:rPr>
              <a:t>Readability  w₄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89720" y="1508760"/>
            <a:ext cx="2697480" cy="1554480"/>
          </a:xfrm>
          <a:prstGeom prst="rect">
            <a:avLst/>
          </a:prstGeom>
          <a:solidFill>
            <a:srgbClr val="161B27"/>
          </a:solidFill>
          <a:ln w="635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81160" y="1554480"/>
            <a:ext cx="2514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9D1D9"/>
                </a:solidFill>
                <a:latin typeface="Segoe UI"/>
              </a:rPr>
              <a:t>Comment density
+ avg identifier
name length → [0,1]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3246120"/>
            <a:ext cx="7040880" cy="3383280"/>
          </a:xfrm>
          <a:prstGeom prst="rect">
            <a:avLst/>
          </a:prstGeom>
          <a:solidFill>
            <a:srgbClr val="010510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4048" y="3319272"/>
            <a:ext cx="6821424" cy="32369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79C0FF"/>
                </a:solidFill>
                <a:latin typeface="Consolas"/>
              </a:rPr>
              <a:t># seed: bubble sort (fitness ≈ 0.86)</a:t>
            </a:r>
          </a:p>
          <a:p>
            <a:r>
              <a:rPr sz="1000">
                <a:solidFill>
                  <a:srgbClr val="79C0FF"/>
                </a:solidFill>
                <a:latin typeface="Consolas"/>
              </a:rPr>
              <a:t>def sort(arr):</a:t>
            </a:r>
          </a:p>
          <a:p>
            <a:r>
              <a:rPr sz="1000">
                <a:solidFill>
                  <a:srgbClr val="79C0FF"/>
                </a:solidFill>
                <a:latin typeface="Consolas"/>
              </a:rPr>
              <a:t>    n = len(arr)</a:t>
            </a:r>
          </a:p>
          <a:p>
            <a:r>
              <a:rPr sz="1000">
                <a:solidFill>
                  <a:srgbClr val="79C0FF"/>
                </a:solidFill>
                <a:latin typeface="Consolas"/>
              </a:rPr>
              <a:t>    for i in range(n):</a:t>
            </a:r>
          </a:p>
          <a:p>
            <a:r>
              <a:rPr sz="1000">
                <a:solidFill>
                  <a:srgbClr val="79C0FF"/>
                </a:solidFill>
                <a:latin typeface="Consolas"/>
              </a:rPr>
              <a:t>        for j in range(n-i-1):</a:t>
            </a:r>
          </a:p>
          <a:p>
            <a:r>
              <a:rPr sz="1000">
                <a:solidFill>
                  <a:srgbClr val="79C0FF"/>
                </a:solidFill>
                <a:latin typeface="Consolas"/>
              </a:rPr>
              <a:t>            if arr[j] &gt; arr[j+1]:</a:t>
            </a:r>
          </a:p>
          <a:p>
            <a:r>
              <a:rPr sz="1000">
                <a:solidFill>
                  <a:srgbClr val="79C0FF"/>
                </a:solidFill>
                <a:latin typeface="Consolas"/>
              </a:rPr>
              <a:t>                arr[j], arr[j+1] = arr[j+1], arr[j]</a:t>
            </a:r>
          </a:p>
          <a:p>
            <a:r>
              <a:rPr sz="1000">
                <a:solidFill>
                  <a:srgbClr val="79C0FF"/>
                </a:solidFill>
                <a:latin typeface="Consolas"/>
              </a:rPr>
              <a:t>    return arr</a:t>
            </a:r>
          </a:p>
          <a:p>
            <a:r>
              <a:rPr sz="1000">
                <a:solidFill>
                  <a:srgbClr val="79C0FF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79C0FF"/>
                </a:solidFill>
                <a:latin typeface="Consolas"/>
              </a:rPr>
              <a:t># LLM evolves to quicksort (fitness ≈ 0.87+)</a:t>
            </a:r>
          </a:p>
          <a:p>
            <a:r>
              <a:rPr sz="1000">
                <a:solidFill>
                  <a:srgbClr val="79C0FF"/>
                </a:solidFill>
                <a:latin typeface="Consolas"/>
              </a:rPr>
              <a:t>def sort(arr):  # quicksort</a:t>
            </a:r>
          </a:p>
          <a:p>
            <a:r>
              <a:rPr sz="1000">
                <a:solidFill>
                  <a:srgbClr val="79C0FF"/>
                </a:solidFill>
                <a:latin typeface="Consolas"/>
              </a:rPr>
              <a:t>    if len(arr) &lt;= 1: return arr</a:t>
            </a:r>
          </a:p>
          <a:p>
            <a:r>
              <a:rPr sz="1000">
                <a:solidFill>
                  <a:srgbClr val="79C0FF"/>
                </a:solidFill>
                <a:latin typeface="Consolas"/>
              </a:rPr>
              <a:t>    pivot = arr[len(arr)//2]</a:t>
            </a:r>
          </a:p>
          <a:p>
            <a:r>
              <a:rPr sz="1000">
                <a:solidFill>
                  <a:srgbClr val="79C0FF"/>
                </a:solidFill>
                <a:latin typeface="Consolas"/>
              </a:rPr>
              <a:t>    return sort([x for x in arr if x&lt;pivot]) + \</a:t>
            </a:r>
          </a:p>
          <a:p>
            <a:r>
              <a:rPr sz="1000">
                <a:solidFill>
                  <a:srgbClr val="79C0FF"/>
                </a:solidFill>
                <a:latin typeface="Consolas"/>
              </a:rPr>
              <a:t>           [x for x in arr if x==pivot] + \</a:t>
            </a:r>
          </a:p>
          <a:p>
            <a:r>
              <a:rPr sz="1000">
                <a:solidFill>
                  <a:srgbClr val="79C0FF"/>
                </a:solidFill>
                <a:latin typeface="Consolas"/>
              </a:rPr>
              <a:t>           sort([x for x in arr if x&gt;pivot])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52360" y="3246120"/>
            <a:ext cx="4434840" cy="3383280"/>
          </a:xfrm>
          <a:prstGeom prst="rect">
            <a:avLst/>
          </a:prstGeom>
          <a:solidFill>
            <a:srgbClr val="161B27"/>
          </a:solidFill>
          <a:ln w="635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89520" y="3319272"/>
            <a:ext cx="4206240" cy="3236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 b="1">
                <a:solidFill>
                  <a:srgbClr val="FFFFFF"/>
                </a:solidFill>
                <a:latin typeface="Segoe UI"/>
              </a:rPr>
              <a:t>• Weights sum-to-1 enforced in UI (auto-normalise)</a:t>
            </a:r>
          </a:p>
          <a:p>
            <a:pPr/>
            <a:r>
              <a:rPr sz="1300" b="1">
                <a:solidFill>
                  <a:srgbClr val="FFFFFF"/>
                </a:solidFill>
                <a:latin typeface="Segoe UI"/>
              </a:rPr>
              <a:t>• Sandboxed exec — recursive algorithms work</a:t>
            </a:r>
          </a:p>
          <a:p>
            <a:pPr/>
            <a:r>
              <a:rPr sz="1300" b="1">
                <a:solidFill>
                  <a:srgbClr val="FFFFFF"/>
                </a:solidFill>
                <a:latin typeface="Segoe UI"/>
              </a:rPr>
              <a:t>• Seed algorithm: bubble sort  O(n²)</a:t>
            </a:r>
          </a:p>
          <a:p>
            <a:pPr/>
            <a:r>
              <a:rPr sz="1300" b="1">
                <a:solidFill>
                  <a:srgbClr val="FFFFFF"/>
                </a:solidFill>
                <a:latin typeface="Segoe UI"/>
              </a:rPr>
              <a:t>• Target: quicksort / built-in sorted  O(n log n)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64240" y="649224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9939B"/>
                </a:solidFill>
                <a:latin typeface="Segoe UI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E1117"/>
                </a:solidFill>
                <a:latin typeface="Segoe UI Semibold"/>
              </a:rPr>
              <a:t>Performance Profiling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2296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9939B"/>
                </a:solidFill>
                <a:latin typeface="Segoe UI"/>
              </a:rPr>
              <a:t>cProfile analysis — profile_experiment.py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05840"/>
            <a:ext cx="7315200" cy="5120640"/>
          </a:xfrm>
          <a:prstGeom prst="rect">
            <a:avLst/>
          </a:prstGeom>
          <a:solidFill>
            <a:srgbClr val="161B27"/>
          </a:solidFill>
          <a:ln w="635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078992"/>
            <a:ext cx="7086600" cy="4974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 b="1">
                <a:solidFill>
                  <a:srgbClr val="FFFFFF"/>
                </a:solidFill>
                <a:latin typeface="Segoe UI"/>
              </a:rPr>
              <a:t>• Three Profiling Methods Demonstrated</a:t>
            </a:r>
          </a:p>
          <a:p>
            <a:pPr lvl="1"/>
            <a:r>
              <a:rPr sz="1200">
                <a:solidFill>
                  <a:srgbClr val="C9D1D9"/>
                </a:solidFill>
                <a:latin typeface="Segoe UI"/>
              </a:rPr>
              <a:t>    ◦ Method 1: cProfile.run() — one-liner for quick profiling</a:t>
            </a:r>
          </a:p>
          <a:p>
            <a:pPr lvl="1"/>
            <a:r>
              <a:rPr sz="1200">
                <a:solidFill>
                  <a:srgbClr val="C9D1D9"/>
                </a:solidFill>
                <a:latin typeface="Segoe UI"/>
              </a:rPr>
              <a:t>    ◦ Method 2: cProfile.Profile() — programmatic start/stop with pstats filtering</a:t>
            </a:r>
          </a:p>
          <a:p>
            <a:pPr lvl="1"/>
            <a:r>
              <a:rPr sz="1200">
                <a:solidFill>
                  <a:srgbClr val="C9D1D9"/>
                </a:solidFill>
                <a:latin typeface="Segoe UI"/>
              </a:rPr>
              <a:t>    ◦ Method 3: python -m cProfile -s cumtime run_experiment.py  (CLI)</a:t>
            </a:r>
          </a:p>
          <a:p>
            <a:pPr/>
            <a:r>
              <a:rPr sz="1300" b="1">
                <a:solidFill>
                  <a:srgbClr val="FFFFFF"/>
                </a:solidFill>
                <a:latin typeface="Segoe UI"/>
              </a:rPr>
              <a:t>• Hot Spots Identified (matrix problem, 2 generations)</a:t>
            </a:r>
          </a:p>
          <a:p>
            <a:pPr lvl="1"/>
            <a:r>
              <a:rPr sz="1200">
                <a:solidFill>
                  <a:srgbClr val="C9D1D9"/>
                </a:solidFill>
                <a:latin typeface="Segoe UI"/>
              </a:rPr>
              <a:t>    ◦ evaluate() in matrix.py — exec() overhead per candidate</a:t>
            </a:r>
          </a:p>
          <a:p>
            <a:pPr lvl="1"/>
            <a:r>
              <a:rPr sz="1200">
                <a:solidFill>
                  <a:srgbClr val="C9D1D9"/>
                </a:solidFill>
                <a:latin typeface="Segoe UI"/>
              </a:rPr>
              <a:t>    ◦ cache.py set()/get() — JSONL I/O on every evaluation</a:t>
            </a:r>
          </a:p>
          <a:p>
            <a:pPr lvl="1"/>
            <a:r>
              <a:rPr sz="1200">
                <a:solidFill>
                  <a:srgbClr val="C9D1D9"/>
                </a:solidFill>
                <a:latin typeface="Segoe UI"/>
              </a:rPr>
              <a:t>    ◦ evolve.py — inner loop overhead (sorted, list comprehensions)</a:t>
            </a:r>
          </a:p>
          <a:p>
            <a:pPr lvl="1"/>
            <a:r>
              <a:rPr sz="1200">
                <a:solidFill>
                  <a:srgbClr val="C9D1D9"/>
                </a:solidFill>
                <a:latin typeface="Segoe UI"/>
              </a:rPr>
              <a:t>    ◦ LLM HTTP request — dominant cost in llm_guided mode</a:t>
            </a:r>
          </a:p>
          <a:p>
            <a:pPr/>
            <a:r>
              <a:rPr sz="1300" b="1">
                <a:solidFill>
                  <a:srgbClr val="FFFFFF"/>
                </a:solidFill>
                <a:latin typeface="Segoe UI"/>
              </a:rPr>
              <a:t>• Optimisation Opportunities</a:t>
            </a:r>
          </a:p>
          <a:p>
            <a:pPr lvl="1"/>
            <a:r>
              <a:rPr sz="1200">
                <a:solidFill>
                  <a:srgbClr val="C9D1D9"/>
                </a:solidFill>
                <a:latin typeface="Segoe UI"/>
              </a:rPr>
              <a:t>    ◦ Batch candidate evaluation with concurrent.futures (2–4× speedup)</a:t>
            </a:r>
          </a:p>
          <a:p>
            <a:pPr lvl="1"/>
            <a:r>
              <a:rPr sz="1200">
                <a:solidFill>
                  <a:srgbClr val="C9D1D9"/>
                </a:solidFill>
                <a:latin typeface="Segoe UI"/>
              </a:rPr>
              <a:t>    ◦ Use in-memory dict cache first, flush JSONL async</a:t>
            </a:r>
          </a:p>
          <a:p>
            <a:pPr lvl="1"/>
            <a:r>
              <a:rPr sz="1200">
                <a:solidFill>
                  <a:srgbClr val="C9D1D9"/>
                </a:solidFill>
                <a:latin typeface="Segoe UI"/>
              </a:rPr>
              <a:t>    ◦ snakeviz:  pip install snakeviz &amp;&amp; snakeviz outputs/profile_matrix.prof</a:t>
            </a:r>
          </a:p>
        </p:txBody>
      </p:sp>
      <p:sp>
        <p:nvSpPr>
          <p:cNvPr id="7" name="Rectangle 6"/>
          <p:cNvSpPr/>
          <p:nvPr/>
        </p:nvSpPr>
        <p:spPr>
          <a:xfrm>
            <a:off x="7589520" y="1005840"/>
            <a:ext cx="4297680" cy="5120640"/>
          </a:xfrm>
          <a:prstGeom prst="rect">
            <a:avLst/>
          </a:prstGeom>
          <a:solidFill>
            <a:srgbClr val="010510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99248" y="1078992"/>
            <a:ext cx="4078224" cy="4974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79C0FF"/>
                </a:solidFill>
                <a:latin typeface="Consolas"/>
              </a:rPr>
              <a:t># Run profiler:</a:t>
            </a:r>
          </a:p>
          <a:p>
            <a:r>
              <a:rPr sz="1000">
                <a:solidFill>
                  <a:srgbClr val="79C0FF"/>
                </a:solidFill>
                <a:latin typeface="Consolas"/>
              </a:rPr>
              <a:t>python profile_experiment.py matrix --save</a:t>
            </a:r>
          </a:p>
          <a:p>
            <a:r>
              <a:rPr sz="1000">
                <a:solidFill>
                  <a:srgbClr val="79C0FF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79C0FF"/>
                </a:solidFill>
                <a:latin typeface="Consolas"/>
              </a:rPr>
              <a:t># View flame graph:</a:t>
            </a:r>
          </a:p>
          <a:p>
            <a:r>
              <a:rPr sz="1000">
                <a:solidFill>
                  <a:srgbClr val="79C0FF"/>
                </a:solidFill>
                <a:latin typeface="Consolas"/>
              </a:rPr>
              <a:t>snakeviz outputs/profile_matrix.prof</a:t>
            </a:r>
          </a:p>
          <a:p>
            <a:r>
              <a:rPr sz="1000">
                <a:solidFill>
                  <a:srgbClr val="79C0FF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79C0FF"/>
                </a:solidFill>
                <a:latin typeface="Consolas"/>
              </a:rPr>
              <a:t># CLI method:</a:t>
            </a:r>
          </a:p>
          <a:p>
            <a:r>
              <a:rPr sz="1000">
                <a:solidFill>
                  <a:srgbClr val="79C0FF"/>
                </a:solidFill>
                <a:latin typeface="Consolas"/>
              </a:rPr>
              <a:t>python -m cProfile -s cumtime run_experiment.py</a:t>
            </a:r>
          </a:p>
          <a:p>
            <a:r>
              <a:rPr sz="1000">
                <a:solidFill>
                  <a:srgbClr val="79C0FF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79C0FF"/>
                </a:solidFill>
                <a:latin typeface="Consolas"/>
              </a:rPr>
              <a:t># Top functions (cumtime):</a:t>
            </a:r>
          </a:p>
          <a:p>
            <a:r>
              <a:rPr sz="1000">
                <a:solidFill>
                  <a:srgbClr val="79C0FF"/>
                </a:solidFill>
                <a:latin typeface="Consolas"/>
              </a:rPr>
              <a:t>  run_experiment      1 call    0.021s</a:t>
            </a:r>
          </a:p>
          <a:p>
            <a:r>
              <a:rPr sz="1000">
                <a:solidFill>
                  <a:srgbClr val="79C0FF"/>
                </a:solidFill>
                <a:latin typeface="Consolas"/>
              </a:rPr>
              <a:t>  evolve              3 calls   0.018s</a:t>
            </a:r>
          </a:p>
          <a:p>
            <a:r>
              <a:rPr sz="1000">
                <a:solidFill>
                  <a:srgbClr val="79C0FF"/>
                </a:solidFill>
                <a:latin typeface="Consolas"/>
              </a:rPr>
              <a:t>  MatrixEvaluator     36 calls  0.014s</a:t>
            </a:r>
          </a:p>
          <a:p>
            <a:r>
              <a:rPr sz="1000">
                <a:solidFill>
                  <a:srgbClr val="79C0FF"/>
                </a:solidFill>
                <a:latin typeface="Consolas"/>
              </a:rPr>
              <a:t>  FitnessCache.get    36 calls  0.003s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9224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9939B"/>
                </a:solidFill>
                <a:latin typeface="Segoe UI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E1117"/>
                </a:solidFill>
                <a:latin typeface="Segoe UI Semibold"/>
              </a:rPr>
              <a:t>Demo Walkthrough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2296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9939B"/>
                </a:solidFill>
                <a:latin typeface="Segoe UI"/>
              </a:rPr>
              <a:t>Streamlit UI — live evolution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51560"/>
            <a:ext cx="502920" cy="109728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051560"/>
            <a:ext cx="502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E1117"/>
                </a:solidFill>
                <a:latin typeface="Segoe UI Black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051560"/>
            <a:ext cx="5212080" cy="1097280"/>
          </a:xfrm>
          <a:prstGeom prst="rect">
            <a:avLst/>
          </a:prstGeom>
          <a:solidFill>
            <a:srgbClr val="161B27"/>
          </a:solidFill>
          <a:ln w="508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0972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Start App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50876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9D1D9"/>
                </a:solidFill>
                <a:latin typeface="Segoe UI"/>
              </a:rPr>
              <a:t>streamlit run app.py
Open  http://localhost:8501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051560"/>
            <a:ext cx="502920" cy="109728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051560"/>
            <a:ext cx="502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E1117"/>
                </a:solidFill>
                <a:latin typeface="Segoe UI Black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0" y="1051560"/>
            <a:ext cx="5212080" cy="1097280"/>
          </a:xfrm>
          <a:prstGeom prst="rect">
            <a:avLst/>
          </a:prstGeom>
          <a:solidFill>
            <a:srgbClr val="161B27"/>
          </a:solidFill>
          <a:ln w="508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10972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Select Problem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150876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9D1D9"/>
                </a:solidFill>
                <a:latin typeface="Segoe UI"/>
              </a:rPr>
              <a:t>Choose pacman / matrix / pseudocode
Pseudocode: adjust 4 weight sliders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2423160"/>
            <a:ext cx="502920" cy="109728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320" y="2423160"/>
            <a:ext cx="502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E1117"/>
                </a:solidFill>
                <a:latin typeface="Segoe UI Black"/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2423160"/>
            <a:ext cx="5212080" cy="1097280"/>
          </a:xfrm>
          <a:prstGeom prst="rect">
            <a:avLst/>
          </a:prstGeom>
          <a:solidFill>
            <a:srgbClr val="161B27"/>
          </a:solidFill>
          <a:ln w="508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4688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Configure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288036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9D1D9"/>
                </a:solidFill>
                <a:latin typeface="Segoe UI"/>
              </a:rPr>
              <a:t>Set generations=10, population=8
Pick evolution modes to compare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2423160"/>
            <a:ext cx="502920" cy="109728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2423160"/>
            <a:ext cx="502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E1117"/>
                </a:solidFill>
                <a:latin typeface="Segoe UI Black"/>
              </a:rPr>
              <a:t>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66560" y="2423160"/>
            <a:ext cx="5212080" cy="1097280"/>
          </a:xfrm>
          <a:prstGeom prst="rect">
            <a:avLst/>
          </a:prstGeom>
          <a:solidFill>
            <a:srgbClr val="161B27"/>
          </a:solidFill>
          <a:ln w="508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0" y="24688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Run Evolution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288036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9D1D9"/>
                </a:solidFill>
                <a:latin typeface="Segoe UI"/>
              </a:rPr>
              <a:t>Click  ▶  Run Evolution
Watch live fitness bars update per generation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794760"/>
            <a:ext cx="502920" cy="109728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" y="3794760"/>
            <a:ext cx="502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E1117"/>
                </a:solidFill>
                <a:latin typeface="Segoe UI Black"/>
              </a:rPr>
              <a:t>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3794760"/>
            <a:ext cx="5212080" cy="1097280"/>
          </a:xfrm>
          <a:prstGeom prst="rect">
            <a:avLst/>
          </a:prstGeom>
          <a:solidFill>
            <a:srgbClr val="161B27"/>
          </a:solidFill>
          <a:ln w="508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38404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Analyse Results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" y="425196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9D1D9"/>
                </a:solidFill>
                <a:latin typeface="Segoe UI"/>
              </a:rPr>
              <a:t>Tab 1: Fitness curves by mode
Tab 2: Generation breakdown table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63640" y="3794760"/>
            <a:ext cx="502920" cy="109728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3794760"/>
            <a:ext cx="502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E1117"/>
                </a:solidFill>
                <a:latin typeface="Segoe UI Black"/>
              </a:rPr>
              <a:t>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766560" y="3794760"/>
            <a:ext cx="5212080" cy="1097280"/>
          </a:xfrm>
          <a:prstGeom prst="rect">
            <a:avLst/>
          </a:prstGeom>
          <a:solidFill>
            <a:srgbClr val="161B27"/>
          </a:solidFill>
          <a:ln w="508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0" y="38404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Code Diff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0" y="425196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9D1D9"/>
                </a:solidFill>
                <a:latin typeface="Segoe UI"/>
              </a:rPr>
              <a:t>Tab 3: Unified diff — initial vs best evolved
Side-by-side code view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5166360"/>
            <a:ext cx="502920" cy="109728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4320" y="5166360"/>
            <a:ext cx="502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E1117"/>
                </a:solidFill>
                <a:latin typeface="Segoe UI Black"/>
              </a:rPr>
              <a:t>7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166360"/>
            <a:ext cx="5212080" cy="1097280"/>
          </a:xfrm>
          <a:prstGeom prst="rect">
            <a:avLst/>
          </a:prstGeom>
          <a:solidFill>
            <a:srgbClr val="161B27"/>
          </a:solidFill>
          <a:ln w="508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52120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Export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" y="562356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9D1D9"/>
                </a:solidFill>
                <a:latin typeface="Segoe UI"/>
              </a:rPr>
              <a:t>Tab 5: Download best code .py
Download results .csv / .xlsx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4320" y="644652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8A6FF"/>
                </a:solidFill>
                <a:latin typeface="Segoe UI"/>
              </a:rPr>
              <a:t>Demo Video:  youtu.be/b2GBt0VEED0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064240" y="649224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9939B"/>
                </a:solidFill>
                <a:latin typeface="Segoe UI"/>
              </a:rPr>
              <a:t>15 /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E1117"/>
                </a:solidFill>
                <a:latin typeface="Segoe UI Semibold"/>
              </a:rPr>
              <a:t>Conclusions &amp; Key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2296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9939B"/>
                </a:solidFill>
                <a:latin typeface="Segoe UI"/>
              </a:rPr>
              <a:t>What we built · What we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05840"/>
            <a:ext cx="11612880" cy="5303520"/>
          </a:xfrm>
          <a:prstGeom prst="rect">
            <a:avLst/>
          </a:prstGeom>
          <a:solidFill>
            <a:srgbClr val="161B27"/>
          </a:solidFill>
          <a:ln w="635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078992"/>
            <a:ext cx="11384280" cy="5157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 b="1">
                <a:solidFill>
                  <a:srgbClr val="FFFFFF"/>
                </a:solidFill>
                <a:latin typeface="Segoe UI"/>
              </a:rPr>
              <a:t>• What We Built</a:t>
            </a:r>
          </a:p>
          <a:p>
            <a:pPr lvl="1"/>
            <a:r>
              <a:rPr sz="1200">
                <a:solidFill>
                  <a:srgbClr val="C9D1D9"/>
                </a:solidFill>
                <a:latin typeface="Segoe UI"/>
              </a:rPr>
              <a:t>    ◦ Full AlphaEvolve-inspired framework: 3 problems, 3 modes, 3 LLM backends</a:t>
            </a:r>
          </a:p>
          <a:p>
            <a:pPr lvl="1"/>
            <a:r>
              <a:rPr sz="1200">
                <a:solidFill>
                  <a:srgbClr val="C9D1D9"/>
                </a:solidFill>
                <a:latin typeface="Segoe UI"/>
              </a:rPr>
              <a:t>    ◦ Streamlit UI with live charts + code diff + configurable weights</a:t>
            </a:r>
          </a:p>
          <a:p>
            <a:pPr lvl="1"/>
            <a:r>
              <a:rPr sz="1200">
                <a:solidFill>
                  <a:srgbClr val="C9D1D9"/>
                </a:solidFill>
                <a:latin typeface="Segoe UI"/>
              </a:rPr>
              <a:t>    ◦ Caching system cuts evaluation cost by 60–80% in later generations</a:t>
            </a:r>
          </a:p>
          <a:p>
            <a:pPr lvl="1"/>
            <a:r>
              <a:rPr sz="1200">
                <a:solidFill>
                  <a:srgbClr val="C9D1D9"/>
                </a:solidFill>
                <a:latin typeface="Segoe UI"/>
              </a:rPr>
              <a:t>    ◦ Reproducible experiments via seed=42 (both Python random + NumPy)</a:t>
            </a:r>
          </a:p>
          <a:p>
            <a:pPr lvl="1"/>
            <a:r>
              <a:rPr sz="1200">
                <a:solidFill>
                  <a:srgbClr val="C9D1D9"/>
                </a:solidFill>
                <a:latin typeface="Segoe UI"/>
              </a:rPr>
              <a:t>    ◦ Bonus pseudocode evaluator with 4 user-configurable fitness dimensions</a:t>
            </a:r>
          </a:p>
          <a:p>
            <a:pPr/>
            <a:r>
              <a:rPr sz="1300" b="1">
                <a:solidFill>
                  <a:srgbClr val="FFFFFF"/>
                </a:solidFill>
                <a:latin typeface="Segoe UI"/>
              </a:rPr>
              <a:t>• What We Learned</a:t>
            </a:r>
          </a:p>
          <a:p>
            <a:pPr lvl="1"/>
            <a:r>
              <a:rPr sz="1200">
                <a:solidFill>
                  <a:srgbClr val="C9D1D9"/>
                </a:solidFill>
                <a:latin typeface="Segoe UI"/>
              </a:rPr>
              <a:t>    ◦ LLM-guided mutation consistently outperforms random (+15–45%)</a:t>
            </a:r>
          </a:p>
          <a:p>
            <a:pPr lvl="1"/>
            <a:r>
              <a:rPr sz="1200">
                <a:solidFill>
                  <a:srgbClr val="C9D1D9"/>
                </a:solidFill>
                <a:latin typeface="Segoe UI"/>
              </a:rPr>
              <a:t>    ◦ Fitness ceiling effect: already-near-optimal code hard to improve further</a:t>
            </a:r>
          </a:p>
          <a:p>
            <a:pPr lvl="1"/>
            <a:r>
              <a:rPr sz="1200">
                <a:solidFill>
                  <a:srgbClr val="C9D1D9"/>
                </a:solidFill>
                <a:latin typeface="Segoe UI"/>
              </a:rPr>
              <a:t>    ◦ Code as a genome: modularity (engine/evaluator/LLM) makes extension easy</a:t>
            </a:r>
          </a:p>
          <a:p>
            <a:pPr lvl="1"/>
            <a:r>
              <a:rPr sz="1200">
                <a:solidFill>
                  <a:srgbClr val="C9D1D9"/>
                </a:solidFill>
                <a:latin typeface="Segoe UI"/>
              </a:rPr>
              <a:t>    ◦ Greedy top-K selection is simple but effective — no fancy crossover needed</a:t>
            </a:r>
          </a:p>
          <a:p>
            <a:pPr/>
            <a:r>
              <a:rPr sz="1300" b="1">
                <a:solidFill>
                  <a:srgbClr val="FFFFFF"/>
                </a:solidFill>
                <a:latin typeface="Segoe UI"/>
              </a:rPr>
              <a:t>• AOA Connections</a:t>
            </a:r>
          </a:p>
          <a:p>
            <a:pPr lvl="1"/>
            <a:r>
              <a:rPr sz="1200">
                <a:solidFill>
                  <a:srgbClr val="C9D1D9"/>
                </a:solidFill>
                <a:latin typeface="Segoe UI"/>
              </a:rPr>
              <a:t>    ◦ Greedy: top-K elite selection is a greedy local-search step</a:t>
            </a:r>
          </a:p>
          <a:p>
            <a:pPr lvl="1"/>
            <a:r>
              <a:rPr sz="1200">
                <a:solidFill>
                  <a:srgbClr val="C9D1D9"/>
                </a:solidFill>
                <a:latin typeface="Segoe UI"/>
              </a:rPr>
              <a:t>    ◦ Randomised: mutation operators introduce controlled randomness</a:t>
            </a:r>
          </a:p>
          <a:p>
            <a:pPr lvl="1"/>
            <a:r>
              <a:rPr sz="1200">
                <a:solidFill>
                  <a:srgbClr val="C9D1D9"/>
                </a:solidFill>
                <a:latin typeface="Segoe UI"/>
              </a:rPr>
              <a:t>    ◦ Approximation: fitness ≈ true quality (bounded eval budget)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9939B"/>
                </a:solidFill>
                <a:latin typeface="Segoe UI"/>
              </a:rPr>
              <a:t>15 / 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E1117"/>
                </a:solidFill>
                <a:latin typeface="Segoe UI Semibold"/>
              </a:rPr>
              <a:t>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2296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9939B"/>
                </a:solidFill>
                <a:latin typeface="Segoe UI"/>
              </a:rPr>
              <a:t>CS5381 AOA – Group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5156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  <a:latin typeface="Segoe UI"/>
              </a:rPr>
              <a:t>[1] A. Novikov et al., AlphaEvolve: A coding agent for scientific and algorithmic discovery,
     arXiv:2506.13131, Jun. 2025.  https://doi.org/10.48550/arXiv.2506.13131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78308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  <a:latin typeface="Segoe UI"/>
              </a:rPr>
              <a:t>[2] S. Tamilselvi, Introduction to Evolutionary Algorithms, in Genetic Algorithms,
     IntechOpen, 2022.  https://doi.org/10.5772/intechopen.104198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51460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  <a:latin typeface="Segoe UI"/>
              </a:rPr>
              <a:t>[3] H. Amit, An Overview of Evolutionary Algorithms, We Talk Data, Medium.
     https://medium.com/we-talk-data/an-overview-of-evolutionary-algorithms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24612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  <a:latin typeface="Segoe UI"/>
              </a:rPr>
              <a:t>[4] UC Berkeley, Introduction to AI - Pacman Projects.
     http://ai.berkeley.edu/project_overview.html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3977639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  <a:latin typeface="Segoe UI"/>
              </a:rPr>
              <a:t>[5] Meta AI, Ollama: Run large language models locally.
     https://ollama.com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70916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  <a:latin typeface="Segoe UI"/>
              </a:rPr>
              <a:t>[6] GitHub Repository: https://github.com/ManeeGit/CS5381-AOA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544068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  <a:latin typeface="Segoe UI"/>
              </a:rPr>
              <a:t>[7] Demo Video: https://youtu.be/b2GBt0VEED0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0" y="649224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9939B"/>
                </a:solidFill>
                <a:latin typeface="Segoe UI"/>
              </a:rP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