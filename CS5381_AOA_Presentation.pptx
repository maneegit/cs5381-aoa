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914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400" b="1" i="0">
                <a:solidFill>
                  <a:srgbClr val="0E1117"/>
                </a:solidFill>
                <a:latin typeface="Segoe UI Black"/>
              </a:rPr>
              <a:t>Evolve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58A6FF"/>
                </a:solidFill>
                <a:latin typeface="Segoe UI"/>
              </a:rPr>
              <a:t>Evolutionary Algorithm Discovery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1">
                <a:solidFill>
                  <a:srgbClr val="C9D1D9"/>
                </a:solidFill>
                <a:latin typeface="Segoe UI"/>
              </a:rPr>
              <a:t>AlphaEvolve-Inspired Code Optimization Framework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10515600" cy="36576"/>
          </a:xfrm>
          <a:prstGeom prst="rect">
            <a:avLst/>
          </a:prstGeom>
          <a:solidFill>
            <a:srgbClr val="89939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7432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89939B"/>
                </a:solidFill>
                <a:latin typeface="Segoe UI"/>
              </a:rPr>
              <a:t>CS5381  |  Analysis of Algorithms  |  Group 2  |  April 24,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2461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Bhanu Sankar Ravi    ·    Maneesh Malepati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657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Segoe UI"/>
              </a:rPr>
              <a:t>Lakshman Pukhraj     ·    Johitha Konduru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26364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58A6FF"/>
                </a:solidFill>
                <a:latin typeface="Segoe UI"/>
              </a:rPr>
              <a:t>github.com/ManeeGit/CS5381-AOA  ·  Demo: youtu.be/b2GBt0VEED0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1 / 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Group Members &amp; Configurations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CS5381 AOA – Group 2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3657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#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1051560"/>
            <a:ext cx="219456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051560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Name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0" y="1051560"/>
            <a:ext cx="100584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71800" y="1051560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 ID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931920" y="1051560"/>
            <a:ext cx="256032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40" y="1051560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Configuration Name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1051560"/>
            <a:ext cx="5212080" cy="512064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1051560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E1117"/>
                </a:solidFill>
                <a:latin typeface="Segoe UI Semibold"/>
              </a:rPr>
              <a:t>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1563624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1563624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1563624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1563624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Bhanu Sankar Ravi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80" y="1563624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71800" y="1563624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931920" y="1563624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77640" y="1563624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Fast Exploration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92240" y="1563624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563624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High mutation rate, aggressive search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075688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11480" y="2075688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" y="2075688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77240" y="2075688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Maneesh Malepati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075688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971800" y="2075688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2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931920" y="2075688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77640" y="2075688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Balanced Standard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92240" y="2075688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37960" y="2075688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Default parameters, reproducible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65760" y="2587752"/>
            <a:ext cx="3657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11480" y="2587752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2587752"/>
            <a:ext cx="219456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7240" y="2587752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Lakshman Pukhraj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926080" y="2587752"/>
            <a:ext cx="100584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971800" y="2587752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931920" y="2587752"/>
            <a:ext cx="256032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977640" y="2587752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Conservative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92240" y="2587752"/>
            <a:ext cx="5212080" cy="512064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2587752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Low mutation, stable convergence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099816"/>
            <a:ext cx="3657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3099816"/>
            <a:ext cx="2743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31520" y="3099816"/>
            <a:ext cx="219456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099816"/>
            <a:ext cx="210312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Johitha Konduru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80" y="3099816"/>
            <a:ext cx="100584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71800" y="3099816"/>
            <a:ext cx="91440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931920" y="3099816"/>
            <a:ext cx="256032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977640" y="3099816"/>
            <a:ext cx="246888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Elite-Focused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3099816"/>
            <a:ext cx="5212080" cy="512064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537960" y="3099816"/>
            <a:ext cx="5120640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C9D1D9"/>
                </a:solidFill>
                <a:latin typeface="Segoe UI"/>
              </a:rPr>
              <a:t>Large top_k, preserves best genes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3840480"/>
            <a:ext cx="11430000" cy="128016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02920" y="3913632"/>
            <a:ext cx="11201400" cy="1133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All students run the same codebase — only config.yaml differs per student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Config ID 5 = Demo Student (used in live demonstrations)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seed: 42 applied to both random and numpy at the start of every run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2 / 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What We Built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AlphaEvolve-inspired evolutionary code optimizer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11612880" cy="52120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1138428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Problems Supported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Pacman:     F = 0.6*score + 0.3*survival - 0.1*steps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Matrix:     F = 0.7*correct + 0.3*(1 - ops_ratio)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Pseudocode: F = w1*correct + w2*runtime + w3*length + w4*readability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Evolution Modes (same seed, same RNG=42)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no_evolution  — baseline only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random_mutation  — perturb / swap / template inject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llm_guided  — Ollama qwen2.5-coder drives 20% of candidates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3 Interfaces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Streamlit UI (live charts + code diff + export)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FastAPI REST  (POST /run, GET /result)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CLI + cProfile profiler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3 / 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The Evolutionary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How candidates improve each generation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972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972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① Initialise</a:t>
            </a:r>
          </a:p>
        </p:txBody>
      </p:sp>
      <p:sp>
        <p:nvSpPr>
          <p:cNvPr id="7" name="Rectangle 6"/>
          <p:cNvSpPr/>
          <p:nvPr/>
        </p:nvSpPr>
        <p:spPr>
          <a:xfrm>
            <a:off x="2331720" y="10972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23160" y="10972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Copy base_code × population_size into generation 0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116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20116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② Evaluate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116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20116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Run evaluator on each candidate → fitness ∈ [0,1]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260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③ Select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9260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9260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Sort by fitness → keep top_k elites unchanged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048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84048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④ Breed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331720" y="384048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84048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Fill remaining slots:
  40% clone elite
  40% random mutate
  20% LLM improve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5029200"/>
            <a:ext cx="1828800" cy="77724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5029200"/>
            <a:ext cx="1737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0E1117"/>
                </a:solidFill>
                <a:latin typeface="Segoe UI Semibold"/>
              </a:rPr>
              <a:t>⑤ Repeat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5029200"/>
            <a:ext cx="9509760" cy="77724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5029200"/>
            <a:ext cx="93268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C9D1D9"/>
                </a:solidFill>
                <a:latin typeface="Segoe UI"/>
              </a:rPr>
              <a:t>Go to ② until max_generations reached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88720" y="19933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188720" y="29077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188720" y="3822192"/>
            <a:ext cx="182880" cy="22860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4 / 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LLM-guided consistently beats random mutation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051560"/>
            <a:ext cx="32004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5156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Mode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051560"/>
            <a:ext cx="256032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05156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Matrix Fitness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051560"/>
            <a:ext cx="274320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72200" y="105156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Pacman Fitness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69680" y="1051560"/>
            <a:ext cx="2651760" cy="50292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05156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E1117"/>
                </a:solidFill>
                <a:latin typeface="Segoe UI Semibold"/>
              </a:rPr>
              <a:t>vs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554480"/>
            <a:ext cx="32004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55448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no_evolution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6160" y="155448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1880" y="155448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554480"/>
            <a:ext cx="27432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155448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~58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69680" y="1554480"/>
            <a:ext cx="265176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15400" y="155448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057400"/>
            <a:ext cx="320040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05740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random_mutation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566160" y="2057400"/>
            <a:ext cx="256032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11880" y="205740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6480" y="2057400"/>
            <a:ext cx="274320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72200" y="205740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~63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69680" y="2057400"/>
            <a:ext cx="2651760" cy="502920"/>
          </a:xfrm>
          <a:prstGeom prst="rect">
            <a:avLst/>
          </a:prstGeom>
          <a:solidFill>
            <a:srgbClr val="1C222F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15400" y="205740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+8%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560320"/>
            <a:ext cx="32004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560320"/>
            <a:ext cx="3108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llm_guided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560320"/>
            <a:ext cx="256032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11880" y="2560320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0.99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26480" y="2560320"/>
            <a:ext cx="274320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72200" y="25603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~70+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869680" y="2560320"/>
            <a:ext cx="2651760" cy="502920"/>
          </a:xfrm>
          <a:prstGeom prst="rect">
            <a:avLst/>
          </a:prstGeom>
          <a:solidFill>
            <a:srgbClr val="161B27"/>
          </a:solidFill>
          <a:ln w="3175">
            <a:solidFill>
              <a:srgbClr val="303A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15400" y="2560320"/>
            <a:ext cx="25603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50" b="0" i="0">
                <a:solidFill>
                  <a:srgbClr val="C9D1D9"/>
                </a:solidFill>
                <a:latin typeface="Segoe UI"/>
              </a:rPr>
              <a:t>+20–45%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246120"/>
            <a:ext cx="11430000" cy="24688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3319272"/>
            <a:ext cx="11201400" cy="23225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Matrix hits ceiling at 0.99 — template already near-optimal (ops=2, well under max_ops=60)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Pacman shows clear LLM benefit: higher score + survival, fewer wasted steps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Caching cuts repeat evaluation cost by 60-80% in generations 2+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Bonus: pseudocode evaluator — bubble sort evolves toward quicksort, fitness 0.855 -&gt; 0.873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5 /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45720"/>
            <a:ext cx="11430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E1117"/>
                </a:solidFill>
                <a:latin typeface="Segoe UI Semibold"/>
              </a:rPr>
              <a:t>Demo &amp; Takeaways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822960"/>
            <a:ext cx="11430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89939B"/>
                </a:solidFill>
                <a:latin typeface="Segoe UI"/>
              </a:rPr>
              <a:t>github.com/ManeeGit/CS5381-AOA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05840"/>
            <a:ext cx="7132320" cy="5212080"/>
          </a:xfrm>
          <a:prstGeom prst="rect">
            <a:avLst/>
          </a:prstGeom>
          <a:solidFill>
            <a:srgbClr val="161B27"/>
          </a:solidFill>
          <a:ln w="635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078992"/>
            <a:ext cx="6903720" cy="50657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Run the Demo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streamlit run app.py  -&gt;  http://localhost:8501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Select problem, tune generations/population, click Run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Watch live fitness bars, code diff, download CSV/XLSX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Key Takeaways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LLM guidance is consistently better than random — not just luck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top-K selection is simple but effective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Modular design: swap evaluator/LLM without touching engine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Reproducibility: seed=42 applied to both random + numpy</a:t>
            </a:r>
          </a:p>
          <a:p>
            <a:pPr/>
            <a:r>
              <a:rPr sz="1300" b="1">
                <a:solidFill>
                  <a:srgbClr val="FFFFFF"/>
                </a:solidFill>
                <a:latin typeface="Segoe UI"/>
              </a:rPr>
              <a:t>• AOA Connections</a:t>
            </a:r>
          </a:p>
          <a:p>
            <a:pPr lvl="1"/>
            <a:r>
              <a:rPr sz="1200">
                <a:solidFill>
                  <a:srgbClr val="C9D1D9"/>
                </a:solidFill>
                <a:latin typeface="Segoe UI"/>
              </a:rPr>
              <a:t>    ◦ Greedy (top-K),  Randomised (mutations),  Approximation (fitness budget)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79" y="1005840"/>
            <a:ext cx="4389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8A6FF"/>
                </a:solidFill>
                <a:latin typeface="Segoe UI"/>
              </a:rPr>
              <a:t>Demo Video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79" y="1463040"/>
            <a:ext cx="4389120" cy="2560320"/>
          </a:xfrm>
          <a:prstGeom prst="rect">
            <a:avLst/>
          </a:prstGeom>
          <a:solidFill>
            <a:srgbClr val="161B27"/>
          </a:solidFill>
          <a:ln w="9525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79" y="256032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FFD700"/>
                </a:solidFill>
                <a:latin typeface="Segoe UI"/>
              </a:rPr>
              <a:t>youtu.be/b2GBt0VEED0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79" y="42062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8A6FF"/>
                </a:solidFill>
                <a:latin typeface="Segoe UI"/>
              </a:rPr>
              <a:t>References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617720"/>
            <a:ext cx="4389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9939B"/>
                </a:solidFill>
                <a:latin typeface="Segoe UI"/>
              </a:rPr>
              <a:t>AlphaEvolve — Novikov et al., arXiv:2506.13131
Evolutionary Algorithms — Tamilselvi, IntechOpen 2022
UC Berkeley Pacman — ai.berkeley.edu
Ollama — ollama.com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064240" y="649224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9939B"/>
                </a:solidFill>
                <a:latin typeface="Segoe UI"/>
              </a:rPr>
              <a:t>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