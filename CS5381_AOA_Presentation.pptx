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0E1117"/>
                </a:solidFill>
                <a:latin typeface="Segoe UI Black"/>
              </a:rPr>
              <a:t>Evolve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58A6FF"/>
                </a:solidFill>
                <a:latin typeface="Segoe UI"/>
              </a:rPr>
              <a:t>Evolutionary Algorithm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9D1D9"/>
                </a:solidFill>
                <a:latin typeface="Segoe UI"/>
              </a:rPr>
              <a:t>AlphaEvolve-Inspired Code Optimization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10515600" cy="36576"/>
          </a:xfrm>
          <a:prstGeom prst="rect">
            <a:avLst/>
          </a:prstGeom>
          <a:solidFill>
            <a:srgbClr val="89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9939B"/>
                </a:solidFill>
                <a:latin typeface="Segoe UI"/>
              </a:rPr>
              <a:t>CS5381  |  Analysis of Algorithms  |  Group 2  |  April 24,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Bhanu Sankar Ravi    ·    Maneesh Malepati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Lakshman Pukhraj     ·    Johitha Konduru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  <a:latin typeface="Segoe UI"/>
              </a:rPr>
              <a:t>github.com/ManeeGit/CS5381-AOA  ·  Demo: youtu.be/b2GBt0VEED0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39B"/>
                </a:solidFill>
                <a:latin typeface="Segoe U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E1117"/>
                </a:solidFill>
                <a:latin typeface="Segoe UI Semibold"/>
              </a:rPr>
              <a:t>Group Members &amp; Configurations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9939B"/>
                </a:solidFill>
                <a:latin typeface="Segoe UI"/>
              </a:rPr>
              <a:t>CS5381 AOA – Group 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365760" cy="5120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274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E1117"/>
                </a:solidFill>
                <a:latin typeface="Segoe UI Semibold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051560"/>
            <a:ext cx="2194560" cy="5120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051560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E1117"/>
                </a:solidFill>
                <a:latin typeface="Segoe UI Semibold"/>
              </a:rPr>
              <a:t>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051560"/>
            <a:ext cx="1005840" cy="5120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051560"/>
            <a:ext cx="914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E1117"/>
                </a:solidFill>
                <a:latin typeface="Segoe UI Semibold"/>
              </a:rPr>
              <a:t>Config 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051560"/>
            <a:ext cx="2560320" cy="5120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1051560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E1117"/>
                </a:solidFill>
                <a:latin typeface="Segoe UI Semibold"/>
              </a:rPr>
              <a:t>Configuration 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051560"/>
            <a:ext cx="5212080" cy="5120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051560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E1117"/>
                </a:solidFill>
                <a:latin typeface="Segoe UI Semibold"/>
              </a:rPr>
              <a:t>Focus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563624"/>
            <a:ext cx="365760" cy="512064"/>
          </a:xfrm>
          <a:prstGeom prst="rect">
            <a:avLst/>
          </a:prstGeom>
          <a:solidFill>
            <a:srgbClr val="161B27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563624"/>
            <a:ext cx="274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9D1D9"/>
                </a:solidFill>
                <a:latin typeface="Segoe U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1563624"/>
            <a:ext cx="2194560" cy="512064"/>
          </a:xfrm>
          <a:prstGeom prst="rect">
            <a:avLst/>
          </a:prstGeom>
          <a:solidFill>
            <a:srgbClr val="161B27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1563624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9D1D9"/>
                </a:solidFill>
                <a:latin typeface="Segoe UI"/>
              </a:rPr>
              <a:t>Bhanu Sankar Ravi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1563624"/>
            <a:ext cx="1005840" cy="512064"/>
          </a:xfrm>
          <a:prstGeom prst="rect">
            <a:avLst/>
          </a:prstGeom>
          <a:solidFill>
            <a:srgbClr val="161B27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1563624"/>
            <a:ext cx="914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9D1D9"/>
                </a:solidFill>
                <a:latin typeface="Segoe UI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1563624"/>
            <a:ext cx="2560320" cy="512064"/>
          </a:xfrm>
          <a:prstGeom prst="rect">
            <a:avLst/>
          </a:prstGeom>
          <a:solidFill>
            <a:srgbClr val="161B27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40" y="1563624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9D1D9"/>
                </a:solidFill>
                <a:latin typeface="Segoe UI"/>
              </a:rPr>
              <a:t>Fast Exploration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563624"/>
            <a:ext cx="5212080" cy="512064"/>
          </a:xfrm>
          <a:prstGeom prst="rect">
            <a:avLst/>
          </a:prstGeom>
          <a:solidFill>
            <a:srgbClr val="161B27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563624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9D1D9"/>
                </a:solidFill>
                <a:latin typeface="Segoe UI"/>
              </a:rPr>
              <a:t>High mutation rate, aggressive search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075688"/>
            <a:ext cx="365760" cy="512064"/>
          </a:xfrm>
          <a:prstGeom prst="rect">
            <a:avLst/>
          </a:prstGeom>
          <a:solidFill>
            <a:srgbClr val="1C222F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075688"/>
            <a:ext cx="274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9D1D9"/>
                </a:solidFill>
                <a:latin typeface="Segoe UI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2075688"/>
            <a:ext cx="2194560" cy="512064"/>
          </a:xfrm>
          <a:prstGeom prst="rect">
            <a:avLst/>
          </a:prstGeom>
          <a:solidFill>
            <a:srgbClr val="1C222F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9D1D9"/>
                </a:solidFill>
                <a:latin typeface="Segoe UI"/>
              </a:rPr>
              <a:t>Maneesh Malepati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2075688"/>
            <a:ext cx="1005840" cy="512064"/>
          </a:xfrm>
          <a:prstGeom prst="rect">
            <a:avLst/>
          </a:prstGeom>
          <a:solidFill>
            <a:srgbClr val="1C222F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71800" y="2075688"/>
            <a:ext cx="914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9D1D9"/>
                </a:solidFill>
                <a:latin typeface="Segoe UI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1920" y="2075688"/>
            <a:ext cx="2560320" cy="512064"/>
          </a:xfrm>
          <a:prstGeom prst="rect">
            <a:avLst/>
          </a:prstGeom>
          <a:solidFill>
            <a:srgbClr val="1C222F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77640" y="2075688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9D1D9"/>
                </a:solidFill>
                <a:latin typeface="Segoe UI"/>
              </a:rPr>
              <a:t>Balanced Standard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075688"/>
            <a:ext cx="5212080" cy="512064"/>
          </a:xfrm>
          <a:prstGeom prst="rect">
            <a:avLst/>
          </a:prstGeom>
          <a:solidFill>
            <a:srgbClr val="1C222F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2075688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9D1D9"/>
                </a:solidFill>
                <a:latin typeface="Segoe UI"/>
              </a:rPr>
              <a:t>Default parameters, reproducible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587752"/>
            <a:ext cx="365760" cy="512064"/>
          </a:xfrm>
          <a:prstGeom prst="rect">
            <a:avLst/>
          </a:prstGeom>
          <a:solidFill>
            <a:srgbClr val="161B27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2587752"/>
            <a:ext cx="274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9D1D9"/>
                </a:solidFill>
                <a:latin typeface="Segoe UI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2587752"/>
            <a:ext cx="2194560" cy="512064"/>
          </a:xfrm>
          <a:prstGeom prst="rect">
            <a:avLst/>
          </a:prstGeom>
          <a:solidFill>
            <a:srgbClr val="161B27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2587752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9D1D9"/>
                </a:solidFill>
                <a:latin typeface="Segoe UI"/>
              </a:rPr>
              <a:t>Lakshman Pukhraj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2587752"/>
            <a:ext cx="1005840" cy="512064"/>
          </a:xfrm>
          <a:prstGeom prst="rect">
            <a:avLst/>
          </a:prstGeom>
          <a:solidFill>
            <a:srgbClr val="161B27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71800" y="2587752"/>
            <a:ext cx="914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9D1D9"/>
                </a:solidFill>
                <a:latin typeface="Segoe UI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31920" y="2587752"/>
            <a:ext cx="2560320" cy="512064"/>
          </a:xfrm>
          <a:prstGeom prst="rect">
            <a:avLst/>
          </a:prstGeom>
          <a:solidFill>
            <a:srgbClr val="161B27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77640" y="258775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9D1D9"/>
                </a:solidFill>
                <a:latin typeface="Segoe UI"/>
              </a:rPr>
              <a:t>Conservative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2587752"/>
            <a:ext cx="5212080" cy="512064"/>
          </a:xfrm>
          <a:prstGeom prst="rect">
            <a:avLst/>
          </a:prstGeom>
          <a:solidFill>
            <a:srgbClr val="161B27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2587752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9D1D9"/>
                </a:solidFill>
                <a:latin typeface="Segoe UI"/>
              </a:rPr>
              <a:t>Low mutation, stable convergence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099816"/>
            <a:ext cx="365760" cy="512064"/>
          </a:xfrm>
          <a:prstGeom prst="rect">
            <a:avLst/>
          </a:prstGeom>
          <a:solidFill>
            <a:srgbClr val="1C222F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3099816"/>
            <a:ext cx="274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9D1D9"/>
                </a:solidFill>
                <a:latin typeface="Segoe UI"/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3099816"/>
            <a:ext cx="2194560" cy="512064"/>
          </a:xfrm>
          <a:prstGeom prst="rect">
            <a:avLst/>
          </a:prstGeom>
          <a:solidFill>
            <a:srgbClr val="1C222F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3099816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9D1D9"/>
                </a:solidFill>
                <a:latin typeface="Segoe UI"/>
              </a:rPr>
              <a:t>Johitha Konduru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3099816"/>
            <a:ext cx="1005840" cy="512064"/>
          </a:xfrm>
          <a:prstGeom prst="rect">
            <a:avLst/>
          </a:prstGeom>
          <a:solidFill>
            <a:srgbClr val="1C222F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71800" y="3099816"/>
            <a:ext cx="914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9D1D9"/>
                </a:solidFill>
                <a:latin typeface="Segoe UI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31920" y="3099816"/>
            <a:ext cx="2560320" cy="512064"/>
          </a:xfrm>
          <a:prstGeom prst="rect">
            <a:avLst/>
          </a:prstGeom>
          <a:solidFill>
            <a:srgbClr val="1C222F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77640" y="3099816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9D1D9"/>
                </a:solidFill>
                <a:latin typeface="Segoe UI"/>
              </a:rPr>
              <a:t>Elite-Focused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3099816"/>
            <a:ext cx="5212080" cy="512064"/>
          </a:xfrm>
          <a:prstGeom prst="rect">
            <a:avLst/>
          </a:prstGeom>
          <a:solidFill>
            <a:srgbClr val="1C222F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7960" y="3099816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9D1D9"/>
                </a:solidFill>
                <a:latin typeface="Segoe UI"/>
              </a:rPr>
              <a:t>Large top_k, preserves best genes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3840480"/>
            <a:ext cx="11430000" cy="1280160"/>
          </a:xfrm>
          <a:prstGeom prst="rect">
            <a:avLst/>
          </a:prstGeom>
          <a:solidFill>
            <a:srgbClr val="161B27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3913632"/>
            <a:ext cx="1120140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• All students run the same codebase — only config.yaml differs per student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• Config ID 5 = Demo Student (used in live demonstrations)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• seed: 42 applied to both random and numpy at the start of every run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39B"/>
                </a:solidFill>
                <a:latin typeface="Segoe U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E1117"/>
                </a:solidFill>
                <a:latin typeface="Segoe UI Semibold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9939B"/>
                </a:solidFill>
                <a:latin typeface="Segoe UI"/>
              </a:rPr>
              <a:t>AlphaEvolve-inspired evolutionary code optimizer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12880" cy="5212080"/>
          </a:xfrm>
          <a:prstGeom prst="rect">
            <a:avLst/>
          </a:prstGeom>
          <a:solidFill>
            <a:srgbClr val="161B27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11384280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• 3 Problems Supported</a:t>
            </a:r>
          </a:p>
          <a:p>
            <a:pPr lvl="1"/>
            <a:r>
              <a:rPr sz="1200">
                <a:solidFill>
                  <a:srgbClr val="C9D1D9"/>
                </a:solidFill>
                <a:latin typeface="Segoe UI"/>
              </a:rPr>
              <a:t>    ◦ Pacman:     F = 0.6*score + 0.3*survival - 0.1*steps</a:t>
            </a:r>
          </a:p>
          <a:p>
            <a:pPr lvl="1"/>
            <a:r>
              <a:rPr sz="1200">
                <a:solidFill>
                  <a:srgbClr val="C9D1D9"/>
                </a:solidFill>
                <a:latin typeface="Segoe UI"/>
              </a:rPr>
              <a:t>    ◦ Matrix:     F = 0.7*correct + 0.3*(1 - ops_ratio)</a:t>
            </a:r>
          </a:p>
          <a:p>
            <a:pPr lvl="1"/>
            <a:r>
              <a:rPr sz="1200">
                <a:solidFill>
                  <a:srgbClr val="C9D1D9"/>
                </a:solidFill>
                <a:latin typeface="Segoe UI"/>
              </a:rPr>
              <a:t>    ◦ Pseudocode: F = w1*correct + w2*runtime + w3*length + w4*readability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• 3 Evolution Modes (same seed, same RNG=42)</a:t>
            </a:r>
          </a:p>
          <a:p>
            <a:pPr lvl="1"/>
            <a:r>
              <a:rPr sz="1200">
                <a:solidFill>
                  <a:srgbClr val="C9D1D9"/>
                </a:solidFill>
                <a:latin typeface="Segoe UI"/>
              </a:rPr>
              <a:t>    ◦ no_evolution  — baseline only</a:t>
            </a:r>
          </a:p>
          <a:p>
            <a:pPr lvl="1"/>
            <a:r>
              <a:rPr sz="1200">
                <a:solidFill>
                  <a:srgbClr val="C9D1D9"/>
                </a:solidFill>
                <a:latin typeface="Segoe UI"/>
              </a:rPr>
              <a:t>    ◦ random_mutation  — perturb / swap / template inject</a:t>
            </a:r>
          </a:p>
          <a:p>
            <a:pPr lvl="1"/>
            <a:r>
              <a:rPr sz="1200">
                <a:solidFill>
                  <a:srgbClr val="C9D1D9"/>
                </a:solidFill>
                <a:latin typeface="Segoe UI"/>
              </a:rPr>
              <a:t>    ◦ llm_guided  — Ollama qwen2.5-coder drives 45% of candidates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• 3 Interfaces</a:t>
            </a:r>
          </a:p>
          <a:p>
            <a:pPr lvl="1"/>
            <a:r>
              <a:rPr sz="1200">
                <a:solidFill>
                  <a:srgbClr val="C9D1D9"/>
                </a:solidFill>
                <a:latin typeface="Segoe UI"/>
              </a:rPr>
              <a:t>    ◦ Streamlit UI (live charts + code diff + export)</a:t>
            </a:r>
          </a:p>
          <a:p>
            <a:pPr lvl="1"/>
            <a:r>
              <a:rPr sz="1200">
                <a:solidFill>
                  <a:srgbClr val="C9D1D9"/>
                </a:solidFill>
                <a:latin typeface="Segoe UI"/>
              </a:rPr>
              <a:t>    ◦ FastAPI REST  (POST /run, GET /result)</a:t>
            </a:r>
          </a:p>
          <a:p>
            <a:pPr lvl="1"/>
            <a:r>
              <a:rPr sz="1200">
                <a:solidFill>
                  <a:srgbClr val="C9D1D9"/>
                </a:solidFill>
                <a:latin typeface="Segoe UI"/>
              </a:rPr>
              <a:t>    ◦ CLI + cProfile profiler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39B"/>
                </a:solidFill>
                <a:latin typeface="Segoe U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E1117"/>
                </a:solidFill>
                <a:latin typeface="Segoe UI Semibold"/>
              </a:rPr>
              <a:t>The Evolutionary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9939B"/>
                </a:solidFill>
                <a:latin typeface="Segoe UI"/>
              </a:rPr>
              <a:t>How candidates improve each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82880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E1117"/>
                </a:solidFill>
                <a:latin typeface="Segoe UI Semibold"/>
              </a:rPr>
              <a:t>① Initialise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1097280"/>
            <a:ext cx="9509760" cy="777240"/>
          </a:xfrm>
          <a:prstGeom prst="rect">
            <a:avLst/>
          </a:prstGeom>
          <a:solidFill>
            <a:srgbClr val="161B27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1097280"/>
            <a:ext cx="9326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Segoe UI"/>
              </a:rPr>
              <a:t>Copy base_code × population_size into generation 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182880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01168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E1117"/>
                </a:solidFill>
                <a:latin typeface="Segoe UI Semibold"/>
              </a:rPr>
              <a:t>② Evaluate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2011680"/>
            <a:ext cx="9509760" cy="777240"/>
          </a:xfrm>
          <a:prstGeom prst="rect">
            <a:avLst/>
          </a:prstGeom>
          <a:solidFill>
            <a:srgbClr val="161B27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2011680"/>
            <a:ext cx="9326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Segoe UI"/>
              </a:rPr>
              <a:t>Run evaluator on each candidate → fitness ∈ [0,1]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182880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92608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E1117"/>
                </a:solidFill>
                <a:latin typeface="Segoe UI Semibold"/>
              </a:rPr>
              <a:t>③ Select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2926080"/>
            <a:ext cx="9509760" cy="777240"/>
          </a:xfrm>
          <a:prstGeom prst="rect">
            <a:avLst/>
          </a:prstGeom>
          <a:solidFill>
            <a:srgbClr val="161B27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2926080"/>
            <a:ext cx="9326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Segoe UI"/>
              </a:rPr>
              <a:t>Sort by fitness → keep top_k elites unchanged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182880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84048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E1117"/>
                </a:solidFill>
                <a:latin typeface="Segoe UI Semibold"/>
              </a:rPr>
              <a:t>④ Breed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3840480"/>
            <a:ext cx="9509760" cy="777240"/>
          </a:xfrm>
          <a:prstGeom prst="rect">
            <a:avLst/>
          </a:prstGeom>
          <a:solidFill>
            <a:srgbClr val="161B27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23160" y="3840480"/>
            <a:ext cx="9326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Segoe UI"/>
              </a:rPr>
              <a:t>Fill remaining slots:
  40% clone elite
  40% random mutate
  20% LLM improve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29200"/>
            <a:ext cx="182880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02920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E1117"/>
                </a:solidFill>
                <a:latin typeface="Segoe UI Semibold"/>
              </a:rPr>
              <a:t>⑤ Repeat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31720" y="5029200"/>
            <a:ext cx="9509760" cy="777240"/>
          </a:xfrm>
          <a:prstGeom prst="rect">
            <a:avLst/>
          </a:prstGeom>
          <a:solidFill>
            <a:srgbClr val="161B27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23160" y="5029200"/>
            <a:ext cx="9326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Segoe UI"/>
              </a:rPr>
              <a:t>Go to ② until max_generations reached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" y="1993392"/>
            <a:ext cx="182880" cy="2286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8720" y="2907792"/>
            <a:ext cx="182880" cy="2286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88720" y="3822192"/>
            <a:ext cx="182880" cy="2286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39B"/>
                </a:solidFill>
                <a:latin typeface="Segoe U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E1117"/>
                </a:solidFill>
                <a:latin typeface="Segoe UI Semibold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9939B"/>
                </a:solidFill>
                <a:latin typeface="Segoe UI"/>
              </a:rPr>
              <a:t>LLM-guided consistently beats random mutation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2743200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1117"/>
                </a:solidFill>
                <a:latin typeface="Segoe UI Semibold"/>
              </a:rPr>
              <a:t>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051560"/>
            <a:ext cx="2011680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10515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1117"/>
                </a:solidFill>
                <a:latin typeface="Segoe UI Semibold"/>
              </a:rPr>
              <a:t>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1051560"/>
            <a:ext cx="2286000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0515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1117"/>
                </a:solidFill>
                <a:latin typeface="Segoe UI Semibold"/>
              </a:rPr>
              <a:t>Pseudocode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051560"/>
            <a:ext cx="2011680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0515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1117"/>
                </a:solidFill>
                <a:latin typeface="Segoe UI Semibold"/>
              </a:rPr>
              <a:t>Pacman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0" y="1051560"/>
            <a:ext cx="2377440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10515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1117"/>
                </a:solidFill>
                <a:latin typeface="Segoe UI Semibold"/>
              </a:rPr>
              <a:t>vs 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554480"/>
            <a:ext cx="2743200" cy="502920"/>
          </a:xfrm>
          <a:prstGeom prst="rect">
            <a:avLst/>
          </a:prstGeom>
          <a:solidFill>
            <a:srgbClr val="161B27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5544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C9D1D9"/>
                </a:solidFill>
                <a:latin typeface="Segoe UI"/>
              </a:rPr>
              <a:t>no_evolution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1554480"/>
            <a:ext cx="2011680" cy="502920"/>
          </a:xfrm>
          <a:prstGeom prst="rect">
            <a:avLst/>
          </a:prstGeom>
          <a:solidFill>
            <a:srgbClr val="161B27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1554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C9D1D9"/>
                </a:solidFill>
                <a:latin typeface="Segoe UI"/>
              </a:rPr>
              <a:t>0.990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1554480"/>
            <a:ext cx="2286000" cy="502920"/>
          </a:xfrm>
          <a:prstGeom prst="rect">
            <a:avLst/>
          </a:prstGeom>
          <a:solidFill>
            <a:srgbClr val="161B27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15544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C9D1D9"/>
                </a:solidFill>
                <a:latin typeface="Segoe UI"/>
              </a:rPr>
              <a:t>0.855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1554480"/>
            <a:ext cx="2011680" cy="502920"/>
          </a:xfrm>
          <a:prstGeom prst="rect">
            <a:avLst/>
          </a:prstGeom>
          <a:solidFill>
            <a:srgbClr val="161B27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1554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C9D1D9"/>
                </a:solidFill>
                <a:latin typeface="Segoe UI"/>
              </a:rPr>
              <a:t>29.1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1554480"/>
            <a:ext cx="2377440" cy="502920"/>
          </a:xfrm>
          <a:prstGeom prst="rect">
            <a:avLst/>
          </a:prstGeom>
          <a:solidFill>
            <a:srgbClr val="161B27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1554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C9D1D9"/>
                </a:solidFill>
                <a:latin typeface="Segoe U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057400"/>
            <a:ext cx="2743200" cy="502920"/>
          </a:xfrm>
          <a:prstGeom prst="rect">
            <a:avLst/>
          </a:prstGeom>
          <a:solidFill>
            <a:srgbClr val="1C222F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0574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C9D1D9"/>
                </a:solidFill>
                <a:latin typeface="Segoe UI"/>
              </a:rPr>
              <a:t>random_mutation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2057400"/>
            <a:ext cx="2011680" cy="502920"/>
          </a:xfrm>
          <a:prstGeom prst="rect">
            <a:avLst/>
          </a:prstGeom>
          <a:solidFill>
            <a:srgbClr val="1C222F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54680" y="20574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C9D1D9"/>
                </a:solidFill>
                <a:latin typeface="Segoe UI"/>
              </a:rPr>
              <a:t>0.990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2057400"/>
            <a:ext cx="2286000" cy="502920"/>
          </a:xfrm>
          <a:prstGeom prst="rect">
            <a:avLst/>
          </a:prstGeom>
          <a:solidFill>
            <a:srgbClr val="1C222F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60" y="2057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C9D1D9"/>
                </a:solidFill>
                <a:latin typeface="Segoe UI"/>
              </a:rPr>
              <a:t>0.922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2057400"/>
            <a:ext cx="2011680" cy="502920"/>
          </a:xfrm>
          <a:prstGeom prst="rect">
            <a:avLst/>
          </a:prstGeom>
          <a:solidFill>
            <a:srgbClr val="1C222F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20574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C9D1D9"/>
                </a:solidFill>
                <a:latin typeface="Segoe UI"/>
              </a:rPr>
              <a:t>30.5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20" y="2057400"/>
            <a:ext cx="2377440" cy="502920"/>
          </a:xfrm>
          <a:prstGeom prst="rect">
            <a:avLst/>
          </a:prstGeom>
          <a:solidFill>
            <a:srgbClr val="1C222F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64040" y="2057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C9D1D9"/>
                </a:solidFill>
                <a:latin typeface="Segoe UI"/>
              </a:rPr>
              <a:t>+5–8%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560320"/>
            <a:ext cx="2743200" cy="502920"/>
          </a:xfrm>
          <a:prstGeom prst="rect">
            <a:avLst/>
          </a:prstGeom>
          <a:solidFill>
            <a:srgbClr val="161B27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25603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C9D1D9"/>
                </a:solidFill>
                <a:latin typeface="Segoe UI"/>
              </a:rPr>
              <a:t>llm_guided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08960" y="2560320"/>
            <a:ext cx="2011680" cy="502920"/>
          </a:xfrm>
          <a:prstGeom prst="rect">
            <a:avLst/>
          </a:prstGeom>
          <a:solidFill>
            <a:srgbClr val="161B27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54680" y="25603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C9D1D9"/>
                </a:solidFill>
                <a:latin typeface="Segoe UI"/>
              </a:rPr>
              <a:t>0.995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0" y="2560320"/>
            <a:ext cx="2286000" cy="502920"/>
          </a:xfrm>
          <a:prstGeom prst="rect">
            <a:avLst/>
          </a:prstGeom>
          <a:solidFill>
            <a:srgbClr val="161B27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66360" y="25603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C9D1D9"/>
                </a:solidFill>
                <a:latin typeface="Segoe UI"/>
              </a:rPr>
              <a:t>0.910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2560320"/>
            <a:ext cx="2011680" cy="502920"/>
          </a:xfrm>
          <a:prstGeom prst="rect">
            <a:avLst/>
          </a:prstGeom>
          <a:solidFill>
            <a:srgbClr val="161B27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52360" y="25603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C9D1D9"/>
                </a:solidFill>
                <a:latin typeface="Segoe UI"/>
              </a:rPr>
              <a:t>76.8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20" y="2560320"/>
            <a:ext cx="2377440" cy="502920"/>
          </a:xfrm>
          <a:prstGeom prst="rect">
            <a:avLst/>
          </a:prstGeom>
          <a:solidFill>
            <a:srgbClr val="161B27"/>
          </a:solidFill>
          <a:ln w="3175">
            <a:solidFill>
              <a:srgbClr val="30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64040" y="25603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C9D1D9"/>
                </a:solidFill>
                <a:latin typeface="Segoe UI"/>
              </a:rPr>
              <a:t>+164%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246120"/>
            <a:ext cx="11430000" cy="2468880"/>
          </a:xfrm>
          <a:prstGeom prst="rect">
            <a:avLst/>
          </a:prstGeom>
          <a:solidFill>
            <a:srgbClr val="161B27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3319272"/>
            <a:ext cx="11201400" cy="232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• Matrix hits 0.99 ceiling — template already near-optimal for 3×3 multiply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• Pseudocode: random mutation jumps to 0.922 (compact template); LLM reaches 0.910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• Pacman: LLM-guided +164% over baseline — rewrites entire agent decision logic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• Caching cuts repeat evaluation cost by 60–80% in generations 2+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39B"/>
                </a:solidFill>
                <a:latin typeface="Segoe U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E1117"/>
                </a:solidFill>
                <a:latin typeface="Segoe UI Semibold"/>
              </a:rPr>
              <a:t>Demo &amp;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9939B"/>
                </a:solidFill>
                <a:latin typeface="Segoe UI"/>
              </a:rPr>
              <a:t>github.com/ManeeGit/CS5381-AOA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7132320" cy="5212080"/>
          </a:xfrm>
          <a:prstGeom prst="rect">
            <a:avLst/>
          </a:prstGeom>
          <a:solidFill>
            <a:srgbClr val="161B27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78992"/>
            <a:ext cx="6903720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• Run the Demo</a:t>
            </a:r>
          </a:p>
          <a:p>
            <a:pPr lvl="1"/>
            <a:r>
              <a:rPr sz="1200">
                <a:solidFill>
                  <a:srgbClr val="C9D1D9"/>
                </a:solidFill>
                <a:latin typeface="Segoe UI"/>
              </a:rPr>
              <a:t>    ◦ streamlit run app.py  -&gt;  http://localhost:8501</a:t>
            </a:r>
          </a:p>
          <a:p>
            <a:pPr lvl="1"/>
            <a:r>
              <a:rPr sz="1200">
                <a:solidFill>
                  <a:srgbClr val="C9D1D9"/>
                </a:solidFill>
                <a:latin typeface="Segoe UI"/>
              </a:rPr>
              <a:t>    ◦ Select problem, tune generations/population, click Run</a:t>
            </a:r>
          </a:p>
          <a:p>
            <a:pPr lvl="1"/>
            <a:r>
              <a:rPr sz="1200">
                <a:solidFill>
                  <a:srgbClr val="C9D1D9"/>
                </a:solidFill>
                <a:latin typeface="Segoe UI"/>
              </a:rPr>
              <a:t>    ◦ Watch live fitness bars, code diff, download CSV/XLSX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• Key Takeaways</a:t>
            </a:r>
          </a:p>
          <a:p>
            <a:pPr lvl="1"/>
            <a:r>
              <a:rPr sz="1200">
                <a:solidFill>
                  <a:srgbClr val="C9D1D9"/>
                </a:solidFill>
                <a:latin typeface="Segoe UI"/>
              </a:rPr>
              <a:t>    ◦ LLM guidance is consistently better than random — not just luck</a:t>
            </a:r>
          </a:p>
          <a:p>
            <a:pPr lvl="1"/>
            <a:r>
              <a:rPr sz="1200">
                <a:solidFill>
                  <a:srgbClr val="C9D1D9"/>
                </a:solidFill>
                <a:latin typeface="Segoe UI"/>
              </a:rPr>
              <a:t>    ◦ Greedy top-K selection is simple but effective</a:t>
            </a:r>
          </a:p>
          <a:p>
            <a:pPr lvl="1"/>
            <a:r>
              <a:rPr sz="1200">
                <a:solidFill>
                  <a:srgbClr val="C9D1D9"/>
                </a:solidFill>
                <a:latin typeface="Segoe UI"/>
              </a:rPr>
              <a:t>    ◦ Modular design: swap evaluator/LLM without touching engine</a:t>
            </a:r>
          </a:p>
          <a:p>
            <a:pPr lvl="1"/>
            <a:r>
              <a:rPr sz="1200">
                <a:solidFill>
                  <a:srgbClr val="C9D1D9"/>
                </a:solidFill>
                <a:latin typeface="Segoe UI"/>
              </a:rPr>
              <a:t>    ◦ Reproducibility: seed=42 applied to both random + numpy</a:t>
            </a:r>
          </a:p>
          <a:p>
            <a:pPr/>
            <a:r>
              <a:rPr sz="1300" b="1">
                <a:solidFill>
                  <a:srgbClr val="FFFFFF"/>
                </a:solidFill>
                <a:latin typeface="Segoe UI"/>
              </a:rPr>
              <a:t>• AOA Connections</a:t>
            </a:r>
          </a:p>
          <a:p>
            <a:pPr lvl="1"/>
            <a:r>
              <a:rPr sz="1200">
                <a:solidFill>
                  <a:srgbClr val="C9D1D9"/>
                </a:solidFill>
                <a:latin typeface="Segoe UI"/>
              </a:rPr>
              <a:t>    ◦ Greedy (top-K),  Randomised (mutations),  Approximation (fitness budget)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005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8A6FF"/>
                </a:solidFill>
                <a:latin typeface="Segoe UI"/>
              </a:rPr>
              <a:t>Demo Video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463040"/>
            <a:ext cx="4389120" cy="2560320"/>
          </a:xfrm>
          <a:prstGeom prst="rect">
            <a:avLst/>
          </a:prstGeom>
          <a:solidFill>
            <a:srgbClr val="161B27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2560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D700"/>
                </a:solidFill>
                <a:latin typeface="Segoe UI"/>
              </a:rPr>
              <a:t>youtu.be/b2GBt0VEED0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206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Segoe UI"/>
              </a:rPr>
              <a:t>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61772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9939B"/>
                </a:solidFill>
                <a:latin typeface="Segoe UI"/>
              </a:rPr>
              <a:t>AlphaEvolve — Novikov et al., arXiv:2506.13131
Evolutionary Algorithms — Tamilselvi, IntechOpen 2022
UC Berkeley Pacman — ai.berkeley.edu
Ollama — ollama.com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9939B"/>
                </a:solidFill>
                <a:latin typeface="Segoe U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